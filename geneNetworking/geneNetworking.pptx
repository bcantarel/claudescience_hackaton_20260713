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6" r:id="rId17"/>
    <p:sldId id="264" r:id="rId15"/>
    <p:sldId id="265" r:id="rId16"/>
    <p:sldId id="267" r:id="rId18"/>
    <p:sldId id="268" r:id="rId19"/>
    <p:sldId id="269" r:id="rId20"/>
    <p:sldId id="270" r:id="rId21"/>
    <p:sldId id="271" r:id="rId22"/>
    <p:sldId id="273" r:id="rId24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9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8.xml"/><Relationship Id="rId24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Conserved Gene Co-expression &amp;</a:t>
            </a:r>
            <a:br/>
            <a:r>
              <a:t>Transcription-Factor Regulatory Logic Across Vertebrates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94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BFD7EA"/>
                </a:solidFill>
                <a:latin typeface="Calibri"/>
              </a:rPr>
              <a:t>Bulk RNA-seq analysis — human GTEx reference, tested across 26 vertebrate 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recount3 · Bgee v15.2 · FarmGTEx  |  WGCNA modules → cross-species preservation → phylogenetic signal → TF regulatory network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Calibri"/>
              </a:rPr>
              <a:t>Now extended with a single-cell arm (Tabula human/mouse/lemur + zebrafish) — slides 12–18.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2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444444"/>
                </a:solidFill>
                <a:latin typeface="Calibri"/>
              </a:rPr>
              <a:t>▸ How does one genome give rise to many cell types and tissues — and how much of that regulatory architecture is conserved across evolution?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Co-expression modules capture tissue- and cell-type programs driven by differential expression and transcription factors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Which modules are preserved across the vertebrate tree, and which are evolutionarily labile?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Does the conserved co-expression architecture carry a conserved TF regulatory logic?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444444"/>
                </a:solidFill>
                <a:latin typeface="Calibri"/>
              </a:rPr>
              <a:t>▸ Scope decision (with the researcher): tissue-resolved reference, not organism-averaged networks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Organism-averaged expression collapses exactly the cell-type signal of interest</a:t>
            </a:r>
          </a:p>
          <a:p>
            <a:pPr algn="l" lvl="1">
              <a:spcAft>
                <a:spcPts val="300"/>
              </a:spcAft>
            </a:pPr>
            <a:r>
              <a:rPr sz="1500" b="0" i="0">
                <a:solidFill>
                  <a:srgbClr val="666666"/>
                </a:solidFill>
                <a:latin typeface="Calibri"/>
              </a:rPr>
              <a:t>– Strategy: discover modules in a well-powered reference (human GTEx), then test preservation in a broad species panel, then build the TF layer on the conserved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Approach — Two Stages, Two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3 /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2651760" cy="23774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FD7EA"/>
                </a:solidFill>
                <a:latin typeface="Calibri"/>
              </a:rPr>
              <a:t>STAGE 1</a:t>
            </a:r>
          </a:p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Human GTEx</a:t>
            </a:r>
            <a:br/>
            <a:r>
              <a:t>WGCNA modules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DE8F0"/>
                </a:solidFill>
                <a:latin typeface="Calibri"/>
              </a:rPr>
              <a:t>30 tissues · 3,267 samples</a:t>
            </a:r>
            <a:br/>
            <a:r>
              <a:t>→ 27 modules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64680" y="3017520"/>
            <a:ext cx="236032" cy="548640"/>
          </a:xfrm>
          <a:prstGeom prst="rightArrow">
            <a:avLst/>
          </a:prstGeom>
          <a:solidFill>
            <a:srgbClr val="CC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10712" y="2103120"/>
            <a:ext cx="2651760" cy="2377440"/>
          </a:xfrm>
          <a:prstGeom prst="round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FD7EA"/>
                </a:solidFill>
                <a:latin typeface="Calibri"/>
              </a:rPr>
              <a:t>STAGE 2</a:t>
            </a:r>
          </a:p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Cross-species</a:t>
            </a:r>
            <a:br/>
            <a:r>
              <a:t>preservation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DE8F0"/>
                </a:solidFill>
                <a:latin typeface="Calibri"/>
              </a:rPr>
              <a:t>26 species · 12 clades</a:t>
            </a:r>
            <a:br/>
            <a:r>
              <a:t>Zsummary test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72472" y="3017520"/>
            <a:ext cx="236032" cy="548640"/>
          </a:xfrm>
          <a:prstGeom prst="rightArrow">
            <a:avLst/>
          </a:prstGeom>
          <a:solidFill>
            <a:srgbClr val="CC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18504" y="2103120"/>
            <a:ext cx="2651760" cy="237744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FD7EA"/>
                </a:solidFill>
                <a:latin typeface="Calibri"/>
              </a:rPr>
              <a:t>PHASE A</a:t>
            </a:r>
          </a:p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Phylogenetic</a:t>
            </a:r>
            <a:br/>
            <a:r>
              <a:t>signal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DE8F0"/>
                </a:solidFill>
                <a:latin typeface="Calibri"/>
              </a:rPr>
              <a:t>Blomberg K · Pagel λ</a:t>
            </a:r>
            <a:br/>
            <a:r>
              <a:t>on timetree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80264" y="3017520"/>
            <a:ext cx="236032" cy="548640"/>
          </a:xfrm>
          <a:prstGeom prst="rightArrow">
            <a:avLst/>
          </a:prstGeom>
          <a:solidFill>
            <a:srgbClr val="CC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26296" y="2103120"/>
            <a:ext cx="2651760" cy="2377440"/>
          </a:xfrm>
          <a:prstGeom prst="round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BFD7EA"/>
                </a:solidFill>
                <a:latin typeface="Calibri"/>
              </a:rPr>
              <a:t>PHASE B</a:t>
            </a:r>
          </a:p>
          <a:p>
            <a:pPr algn="ct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TF regulatory</a:t>
            </a:r>
            <a:br/>
            <a:r>
              <a:t>layer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DDE8F0"/>
                </a:solidFill>
                <a:latin typeface="Calibri"/>
              </a:rPr>
              <a:t>793 TFs · ensemble GRN</a:t>
            </a:r>
            <a:br/>
            <a:r>
              <a:t>cocktails ·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444444"/>
                </a:solidFill>
                <a:latin typeface="Calibri"/>
              </a:rPr>
              <a:t>All results below are from bulk RNA-seq only. Modules are discovered once in human and then tested — not re-derived — in every other species, so preservation is a genuine out-of-sample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Methods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444444"/>
                </a:solidFill>
                <a:latin typeface="Calibri"/>
              </a:rPr>
              <a:t>▸ Data sources (bulk RNA-seq)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Human reference: recount3 GTEx — 30 tissues, 3,267 samples (balanced subsample)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Cross-species: Bgee v15.2 (24 species) + FarmGTEx cattle; 26 species, 12 clades, 6.4–429 My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Independent cross-check: ENCODE mouse (419 samples, 20 tissues)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444444"/>
                </a:solidFill>
                <a:latin typeface="Calibri"/>
              </a:rPr>
              <a:t>▸ Module discovery — WGCNA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CPM→log2, variance-filtered to 14,000 genes; signed-hybrid network, soft power β=8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Signed TOM → hierarchical clustering → dynamicTreeCut → eigengene merge (r&gt;0.75)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Pure-Python reimplementation (no osx-arm64 R build), validated against mouse network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444444"/>
                </a:solidFill>
                <a:latin typeface="Calibri"/>
              </a:rPr>
              <a:t>▸ Cross-species &amp; regulatory analysis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Preservation: WGCNA Zsummary (Langfelder 2011) on 1:1 orthologs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Phylo signal: Blomberg's K + Pagel's λ on TimeTree ultrametric tree (ape/phytools)</a:t>
            </a:r>
          </a:p>
          <a:p>
            <a:pPr algn="l" lvl="1">
              <a:spcAft>
                <a:spcPts val="3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– TF layer: GO/JASPAR annotation · 3-method GRN ensemble (GENIE3+GRNBoost2+CLR) · XGBoost/SHAP cocktails · DoRothEA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Stage 1 — 27 Tissue-Defining Modules in Human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5 / 18</a:t>
            </a:r>
          </a:p>
        </p:txBody>
      </p:sp>
      <p:pic>
        <p:nvPicPr>
          <p:cNvPr id="5" name="Picture 4" descr="vbec97425_stage1_module_t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0489"/>
            <a:ext cx="7498079" cy="45285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37160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44444"/>
                </a:solidFill>
                <a:latin typeface="Calibri"/>
              </a:rPr>
              <a:t>▸ 27 modules, 7,034 genes assigned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Cleanly tissue-organised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Marker-validated: pancreas 6/6, liver 5/6, muscle 5/6, spleen 5/6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444444"/>
                </a:solidFill>
                <a:latin typeface="Calibri"/>
              </a:rPr>
              <a:t>▸ Resolves sub-tissue programs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Brain → synaptic / mitochondrial / glial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Liver → xenobiotic vs core metabolism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Testis → meiosis / DNA-repair / spermatogenesis</a:t>
            </a:r>
          </a:p>
          <a:p>
            <a:pPr algn="l" lvl="1">
              <a:spcAft>
                <a:spcPts val="3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</a:rPr>
              <a:t>– The cell-type structure recovered from bulk co-expression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Stage 2 — Conservation Is Module-Driven, Not Divergence-Driven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6 / 18</a:t>
            </a:r>
          </a:p>
        </p:txBody>
      </p:sp>
      <p:pic>
        <p:nvPicPr>
          <p:cNvPr id="5" name="Picture 4" descr="v3a18a456_stage2_crossspecies_pre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58" y="1234440"/>
            <a:ext cx="7417083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37160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26 species · 12 clades · 6.4–429 My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Preservation vs divergence time: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Spearman ρ = −0.24, p = 0.23 (n.s.)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conservation does NOT decay with distance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Universally conserved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brain M9 (Zsum 24.9), testis M8 (22.6), ovary M2 (21.5), muscle M18, spleen M10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Labile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pancreas M23, adipose M25, lung M27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Mouse cross-check: 23/26 modules recovered independently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Phase A — Conservation Does Not Track the Phylogeny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7 / 18</a:t>
            </a:r>
          </a:p>
        </p:txBody>
      </p:sp>
      <p:pic>
        <p:nvPicPr>
          <p:cNvPr id="5" name="Picture 4" descr="v9392f5c6_phaseA_phylo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4144"/>
            <a:ext cx="7498079" cy="4081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37160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Every module K ≪ 1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range 0.055–0.468, mean 0.18 (K=1 = Brownian)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Only 5/27 significant K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M3 pituitary K=0.47 (p=0.002), M14 spleen, M20 testis, M11 adipose, M5 ovary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Counterintuitive core result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the most-conserved modules have the LOWEST K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core programs conserved everywhere at once — deep stabilizing selection, not graded by relatedness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phylo signal lives in the labile modules — where regulation genuinely varies by clade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Phase B — TF Regulatory Network on Conserved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8 / 18</a:t>
            </a:r>
          </a:p>
        </p:txBody>
      </p:sp>
      <p:pic>
        <p:nvPicPr>
          <p:cNvPr id="5" name="Picture 4" descr="va73f657d_phaseB_G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39457"/>
            <a:ext cx="5852160" cy="2619166"/>
          </a:xfrm>
          <a:prstGeom prst="rect">
            <a:avLst/>
          </a:prstGeom>
        </p:spPr>
      </p:pic>
      <p:pic>
        <p:nvPicPr>
          <p:cNvPr id="6" name="Picture 5" descr="v411340cc_phaseB_cocktai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96869"/>
            <a:ext cx="5852160" cy="25043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i="1">
                <a:solidFill>
                  <a:srgbClr val="444444"/>
                </a:solidFill>
                <a:latin typeface="Calibri"/>
              </a:rPr>
              <a:t>793 TFs annotated · 3-method ensemble GRN (396,286 edges, 165,531 with ≥2-method support) · master regulators rank at the top of their modules (HNF4A #1 liver, IKZF1 #1 immune, SOX2 a top-3 brain regulator) · combinatorial codes recovered from expression alone (HNF1A+HNF4A, IKZF1×SPI1, FOXM1×E2F2)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3A5F"/>
                </a:solidFill>
                <a:latin typeface="Calibri"/>
              </a:rPr>
              <a:t>Context-Dependent Regulation — One TF, Different Cocktails, Different Targets</a:t>
            </a:r>
          </a:p>
        </p:txBody>
      </p:sp>
      <p:pic>
        <p:nvPicPr>
          <p:cNvPr id="4" name="Picture 3" descr="v9080669a_slide_context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143000"/>
            <a:ext cx="9509760" cy="46356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80644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444444"/>
                </a:solidFill>
                <a:latin typeface="Calibri"/>
              </a:rPr>
              <a:t>Directly answers the motivating question. FOXA1 (a pioneer factor) and SPI1/PU.1 (a combinatorial regulator) each control completely non-overlapping gene sets (0% target overlap) in different tissues — and the SHAP-inferred partner cocktail differs with them: FOXA1+GRHL2 drives epithelial genes (SPDEF, TMPRSS2) in salivary gland, FOXA1+NR1I3/CAR drives xenobiotic metabolism (CYP3A5, UGT1A1) in liver.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82512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66666"/>
                </a:solidFill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Key Finding — Regulatory Backbone Is the Conserved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10 / 18</a:t>
            </a:r>
          </a:p>
        </p:txBody>
      </p:sp>
      <p:pic>
        <p:nvPicPr>
          <p:cNvPr id="5" name="Picture 4" descr="v12f53282_phaseB_regulon_con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79056"/>
            <a:ext cx="7863840" cy="3448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71600"/>
            <a:ext cx="37033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444444"/>
                </a:solidFill>
                <a:latin typeface="Calibri"/>
              </a:rPr>
              <a:t>▸ TF regulator sub-networks preserve BETTER than full modules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0.46 vs 0.35 (Wilcoxon p=0.06); 10/15 modules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liver HNF core 0.94 vs 0.53 full module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Membership drifts; core regulatory logic is locked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444444"/>
                </a:solidFill>
                <a:latin typeface="Calibri"/>
              </a:rPr>
              <a:t>▸ Clade-variable regulation is localised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M11 adipose: regulators rewire AND carry phylo signal</a:t>
            </a:r>
          </a:p>
          <a:p>
            <a:pPr algn="l">
              <a:spcAft>
                <a:spcPts val="800"/>
              </a:spcAft>
            </a:pPr>
            <a:r>
              <a:rPr sz="1250" b="1" i="0">
                <a:solidFill>
                  <a:srgbClr val="444444"/>
                </a:solidFill>
                <a:latin typeface="Calibri"/>
              </a:rPr>
              <a:t>▸ TF-family axis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M3 pituitary (highest K) is 93% C2H2 zinc-finger — the fastest-evolving TF family</a:t>
            </a:r>
          </a:p>
          <a:p>
            <a:pPr algn="l" lvl="1">
              <a:spcAft>
                <a:spcPts val="300"/>
              </a:spcAft>
            </a:pPr>
            <a:r>
              <a:rPr sz="1050" b="0" i="0">
                <a:solidFill>
                  <a:srgbClr val="666666"/>
                </a:solidFill>
                <a:latin typeface="Calibri"/>
              </a:rPr>
              <a:t>– conserved logic borne by classical TFs; labile signal in KRAB-ZNF modules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libri"/>
              </a:rPr>
              <a:t>Validation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11 / 18</a:t>
            </a:r>
          </a:p>
        </p:txBody>
      </p:sp>
      <p:pic>
        <p:nvPicPr>
          <p:cNvPr id="5" name="Picture 4" descr="v2c87d96f_phaseB_grn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02643"/>
            <a:ext cx="6766560" cy="25955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21208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444444"/>
                </a:solidFill>
                <a:latin typeface="Calibri"/>
              </a:rPr>
              <a:t>GRN vs DoRothEA gold standard: AUROC 0.67–0.69 (best on highest-confidence tier), AUPRC 4.5–7× baseline. Master regulators recover individually: HNF1A 0.93, FOXA2/SPI1 0.78, SOX2 0.75.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4663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444444"/>
                </a:solidFill>
                <a:latin typeface="Calibri"/>
              </a:rPr>
              <a:t>▸ Takeaways (bulk RNA-seq)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27 human modules; 23/26 recovered in mouse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Conservation is module-identity-driven, not divergence-driven (ρ=−0.24 n.s.)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Core programs conserved everywhere at once; phylo signal in labile modules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Conserved co-expression DOES carry conserved TF logic — the regulatory backbone is the deepest-conserved layer</a:t>
            </a:r>
          </a:p>
          <a:p>
            <a:pPr algn="l" lvl="1">
              <a:spcAft>
                <a:spcPts val="3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– Next: single-cell confirmation (in progress) + genome-scale orthogroups/motif layer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Single-Cell Extension — Refining the TF Networks at Cell-Type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FD7EA"/>
                </a:solidFill>
                <a:latin typeface="Calibri"/>
              </a:rPr>
              <a:t>Does the bulk “membership conserved, wiring drifts” thesis hold within cell types? And how far does the conserved core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Calibri"/>
              </a:rPr>
              <a:t>Tabula Sapiens / Muris Senis / Microcebus (human · mouse · lemur) + zebrafish deep-outgroup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Datasets — CZ Biohub Tabula Atlases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13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498079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Substrate: the Tabula single-cell atlases (CZ Biohub)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Tabula Sapiens (human, 3.4M cells) · Muris Senis (mouse, 1.07M) · Microcebus (lemur, 0.49M)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One consortium, harmonized protocols → no cross-atlas batch confound (vs. bulk’s multi-source panel)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Count matrices open on CELLxGENE; raw human reads appear controlled-access (0 public SRA/ENA runs; inferred, needs dbGaP/SRA confirmation)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Matched-by-tissue acquisition (avoids the 136 GB full download)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Core 4 clean tissues × 3 species = 9.5 GB, 357k cells: liver, spleen, lung, bone marrow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Widened (“option 3”) with muscle / adipose / pancreas (3-way) + testis / ovary / uterus / pituitary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1,116 pseudobulk profiles across 11 tissues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Harmonized analysis space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96 Cell-Ontology terms → 34-type broad panel (OLS4 hierarchical ancestors, 94/96 mapped)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14,073 three-way 1:1 orthologs — essentially the same gene space as the bulk 14k network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10 well-powered shared cell types (≥100 cells/species) used throughout</a:t>
            </a:r>
          </a:p>
        </p:txBody>
      </p:sp>
      <p:pic>
        <p:nvPicPr>
          <p:cNvPr id="6" name="Picture 5" descr="v525dccd0_sc_atla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17320"/>
            <a:ext cx="3566160" cy="14922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4892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Cell-type × species coverage (4 core tissues)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Methods — From Bulk Modules to Cell-Type Regulons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SC1.2 — Composition-vs-co-regulation diagnostic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Per-module cell-type enrichment on pseudobulk; coherence_retention = within-cell-type ÷ all-profile coherence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Separates genuine within-cell co-regulation from cross-sample composition covariance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SC1.3 — Per-cell-type regulon inference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GRNBoost2 core (gradient-boosted regression per target gene); targets restricted to module genes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Full pySCENIC + cisTarget motif pruning + 100-run stability = Tier 4 (Dockerized, running now)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SC1.4 — Bulk↔single-cell cocktail reconciliation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Per species: genuine if both TFs rank ≤30 AND co-regulate ≥2 shared module targets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SC2.1 / SC2.2 — Cross-species conservation + synthesis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Regulator-identity (Spearman rank corr of TF importance) vs target-set conservation (Jaccard)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Fused with Phase A phylogenetic signal (Blomberg K) + bulk preservation (Zsummary)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SC2.3 — Zebrafish deep-outgroup floor (Track C)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8,486 strict 1:1 human↔zebrafish orthologs; canonical master ranks vs 10k-permutation null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SC-Tier 3 — Validation: DoRothEA gold standard · JASPAR motif support · cross-species held-out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Key Finding 1 — “Membership Conserved, Wiring Drifts” Holds Within Cell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15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SC2.1: the bulk thesis confirmed at the resolution bulk couldn’t reach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Mean regulator-identity conservation = 0.42  &gt;  mean target-set conservation = 0.17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ALL cell types below the y=x line: regulator identity is the conserved axis, wiring is labile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Most conserved: NK / macrophage / T cell (0.46–0.48); least: pneumocyte / hepatocyte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Reconciliation (SC1.4): bulk SHAP magnitude does NOT predict single-cell validation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MLXIPL×NR1H4 (hepatocyte) genuine in all 3 species — yet bulk under-ranked it (SHAP 0.20)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IKZF1×IRF4 (top spleen bulk cocktail, SHAP 1.15) genuine in lemur only; demotes in human+mouse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XBP1 is the true plasma-cell master, conserved rank-1 across all 3 species</a:t>
            </a:r>
          </a:p>
        </p:txBody>
      </p:sp>
      <p:pic>
        <p:nvPicPr>
          <p:cNvPr id="6" name="Picture 5" descr="vcc616411_sc_regulon_con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54480"/>
            <a:ext cx="4206240" cy="22299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4892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SC2.1: regulator-identity vs target-set conservation, 10 cell types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Key Finding 2 — The Conserved Core Reaches Teleost (~450 My)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16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SC2.3: canonical mammalian master regulators recur in zebrafish top-20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Muscle: MEF2D rank 1, SOX6 rank 2  |  Immune: SPI1/PU.1 rank 4, FLI1 rank 6, IKZF1 rank 9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Neuron: EBF3 rank 4, PBX3 rank 5, MEIS1 rank 7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Permutation null (10k random TF sets): muscle p=0.003, neuron p=0.002, immune p=0.016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Why it matters — “going the distance”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The 450-My zebrafish split BRACKETS Marsupialia (~160 My) and Afrotheria (~100 My)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A regulator conserved to teleost necessarily spans those intermediate nodes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Prediction: MEF2, SPI1/PU.1, IKZF1, EBF3, PBX/MEIS hold across marsupials + afrotherians</a:t>
            </a:r>
          </a:p>
          <a:p>
            <a:pPr lvl="1"/>
            <a:r>
              <a:rPr sz="1200">
                <a:solidFill>
                  <a:srgbClr val="666666"/>
                </a:solidFill>
                <a:latin typeface="Calibri"/>
              </a:rPr>
              <a:t>(no single-cell atlas exists for either clade yet — zebrafish is the strongest available proxy)</a:t>
            </a:r>
          </a:p>
        </p:txBody>
      </p:sp>
      <p:pic>
        <p:nvPicPr>
          <p:cNvPr id="6" name="Picture 5" descr="v811534d1_sc_deep_out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54480"/>
            <a:ext cx="4206240" cy="22524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4846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SC2.3: master-regulator ranks in zebrafish + permutation test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Tier 4 — Motif-Pruned, Bootstrap-Stabilized Regulons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6309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Full pySCENIC on the 4 headline cell types × 3 species (12 units, ~26 h)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GRNBoost2 → cisTarget motif pruning → AUCell, 10 bootstrap runs each; run natively (Docker)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The conservation thesis survives the stricter method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Regulator-set conservation 3.2–5.0× above random floor (monocyte 4.7×, T cell 5.0×)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Regulators conserved 3.5× more than target wiring — same ordering as co-expression (2.4×)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Canonical masters survive motif pruning where it matters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XBP1 (plasma, human+mouse) · HNF4A (hepatocyte, mouse+lemur) · CEBPB+FOS (monocyte, all 3)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Pruning is strict (~28% of top-20 retained); the lineage masters are among the survivors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Bootstrap stability = a reproducible network core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~3,900 edges recur in ≥8/10 bootstraps per unit (~7,200 at ≥7/10)</a:t>
            </a:r>
          </a:p>
        </p:txBody>
      </p:sp>
      <p:pic>
        <p:nvPicPr>
          <p:cNvPr id="5" name="Picture 4" descr="sc_tier4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417320"/>
            <a:ext cx="4846320" cy="13434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4617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Tier-4 conservation, master survival, and stability (4 cell types)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A5F"/>
                </a:solidFill>
                <a:latin typeface="Calibri"/>
              </a:rPr>
              <a:t>Single-Cell Summary — Synthesis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66666"/>
                </a:solidFill>
                <a:latin typeface="Calibri"/>
              </a:rPr>
              <a:t>18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SC2.2 synthesis (fuses with Phase A)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Phylo-signal at tissue level can reflect EITHER conserved cell-intrinsic regulation OR conserved composition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M14/plasma cell: high phylo-signal (K=0.40) + conserved regulator (XBP1), divergent targets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M11/adipose: significant phylo-signal but composition-driven — single-cell distinguishes the two</a:t>
            </a:r>
          </a:p>
          <a:p>
            <a:pPr lvl="1"/>
            <a:r>
              <a:rPr sz="1200">
                <a:solidFill>
                  <a:srgbClr val="666666"/>
                </a:solidFill>
                <a:latin typeface="Calibri"/>
              </a:rPr>
              <a:t>(n=6 reliably-mapped modules — exploratory; strongest phylo-signal modules are data-limited)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SC-Tier 3 validation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Motif support: mean 83% of top regulators carry a JASPAR motif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Cross-species held-out (h+m→lemur) accuracy tracks SC2.1 conservation at ρ=0.79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666666"/>
                </a:solidFill>
                <a:latin typeface="Calibri"/>
              </a:rPr>
              <a:t>– DoRothEA: cell-type AUROC ~0.57 &lt; bulk 0.67 — single-cell buys resolution, not gold-standard breadth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444444"/>
                </a:solidFill>
                <a:latin typeface="Calibri"/>
              </a:rPr>
              <a:t>▸ Status: SC-Tiers 1–3 complete; Tier 4 (full pySCENIC, motif-pruned + bootstrap) complete for 4 headline cell types (see slide 17)</a:t>
            </a:r>
          </a:p>
        </p:txBody>
      </p:sp>
      <p:pic>
        <p:nvPicPr>
          <p:cNvPr id="6" name="Picture 5" descr="v97ee8316_sc_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54480"/>
            <a:ext cx="4206240" cy="2085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4709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SC2.2: phylo-signal × preservation × cell-type regulon conservation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