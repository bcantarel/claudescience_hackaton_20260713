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2011679"/>
            <a:ext cx="12191697" cy="265176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2212848"/>
            <a:ext cx="10607042" cy="97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What Cocktail of Transcription Factors Regulates Which Genes — and Is It Conserved?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3794759"/>
            <a:ext cx="10607042" cy="577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BFD7EA"/>
                </a:solidFill>
              </a:defRPr>
            </a:lvl1pPr>
          </a:lstStyle>
          <a:p>
            <a:pPr/>
            <a:r>
              <a:t>One genome builds many cell types. We ask which TF combinations define each tissue/cell-type program, and whether that regulatory logic is shared across mammals.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4983479"/>
            <a:ext cx="106070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/>
            <a:r>
              <a:t>Two complementary views: bulk RNA-seq across 26 vertebrates (breadth) + single-cell across human/mouse/lemur (cell-type resolution).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1 / 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A7D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48639" y="256031"/>
            <a:ext cx="105156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F3A5F"/>
                </a:solidFill>
              </a:defRPr>
            </a:lvl1pPr>
          </a:lstStyle>
          <a:p>
            <a:pPr/>
            <a:r>
              <a:t>Methods — Two Arms, One Question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2 / 7</a:t>
            </a:r>
          </a:p>
        </p:txBody>
      </p:sp>
      <p:sp>
        <p:nvSpPr>
          <p:cNvPr id="103" name="TextBox 4"/>
          <p:cNvSpPr txBox="1"/>
          <p:nvPr/>
        </p:nvSpPr>
        <p:spPr>
          <a:xfrm>
            <a:off x="685800" y="1234440"/>
            <a:ext cx="7223761" cy="5208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b="1" sz="1600">
                <a:solidFill>
                  <a:srgbClr val="444444"/>
                </a:solidFill>
              </a:defRPr>
            </a:pPr>
            <a:r>
              <a:t>▸ Bulk RNA-seq arm (breadth across the tree of life)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Human GTEx reference (recount3, 30 tissues) → WGCNA co-expression modules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Preservation tested across 26 vertebrates (WGCNA Zsummary) + phylogenetic signal (Blomberg’s K)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TF layer: 793 TFs, 3-method GRN ensemble (GENIE3 + GRNBoost2 + CLR), XGBoost+SHAP cocktails</a:t>
            </a:r>
          </a:p>
          <a:p>
            <a:pPr>
              <a:spcBef>
                <a:spcPts val="900"/>
              </a:spcBef>
              <a:defRPr b="1" sz="1600">
                <a:solidFill>
                  <a:srgbClr val="444444"/>
                </a:solidFill>
              </a:defRPr>
            </a:pPr>
            <a:r>
              <a:t>▸ Single-cell RNA-seq arm (resolution within tissues)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Tabula atlases: human / mouse / lemur; 4 core tissues, 357k cells, 14,073 1:1 orthologs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Cell types harmonized to a 34-type panel (Cell Ontology); per-cell-type regulon inference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Full pySCENIC: GRNBoost2 → cisTarget motif pruning → AUCell, 10-bootstrap stability</a:t>
            </a:r>
          </a:p>
          <a:p>
            <a:pPr>
              <a:spcBef>
                <a:spcPts val="900"/>
              </a:spcBef>
              <a:defRPr b="1" sz="1600">
                <a:solidFill>
                  <a:srgbClr val="444444"/>
                </a:solidFill>
              </a:defRPr>
            </a:pPr>
            <a:r>
              <a:t>▸ The key comparison</a:t>
            </a:r>
          </a:p>
          <a:p>
            <a:pPr>
              <a:spcBef>
                <a:spcPts val="300"/>
              </a:spcBef>
              <a:defRPr sz="1600">
                <a:solidFill>
                  <a:srgbClr val="666666"/>
                </a:solidFill>
              </a:defRPr>
            </a:pPr>
            <a:r>
              <a:t>– Bulk mixes all cell types in a tissue; single-cell separates them — so we can ask which bulk</a:t>
            </a:r>
          </a:p>
          <a:p>
            <a:pPr lvl="1">
              <a:spcBef>
                <a:spcPts val="100"/>
              </a:spcBef>
              <a:defRPr sz="1600">
                <a:solidFill>
                  <a:srgbClr val="666666"/>
                </a:solidFill>
              </a:defRPr>
            </a:pPr>
            <a:r>
              <a:t>  “master regulators” are real cell-intrinsic drivers vs. artifacts of tissue composition</a:t>
            </a:r>
          </a:p>
        </p:txBody>
      </p:sp>
      <p:sp>
        <p:nvSpPr>
          <p:cNvPr id="104" name="TextBox 6"/>
          <p:cNvSpPr txBox="1"/>
          <p:nvPr/>
        </p:nvSpPr>
        <p:spPr>
          <a:xfrm>
            <a:off x="8480697" y="6392409"/>
            <a:ext cx="35661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/>
            <a:r>
              <a:t>Bulk 3-method GRN ensemble</a:t>
            </a:r>
          </a:p>
        </p:txBody>
      </p:sp>
      <p:pic>
        <p:nvPicPr>
          <p:cNvPr id="10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rcRect l="27824" t="0" r="34417" b="0"/>
          <a:stretch>
            <a:fillRect/>
          </a:stretch>
        </p:blipFill>
        <p:spPr>
          <a:xfrm>
            <a:off x="7967427" y="2810396"/>
            <a:ext cx="2975541" cy="35270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rcRect l="0" t="0" r="71639" b="0"/>
          <a:stretch>
            <a:fillRect/>
          </a:stretch>
        </p:blipFill>
        <p:spPr>
          <a:xfrm>
            <a:off x="9324127" y="445925"/>
            <a:ext cx="2235065" cy="35271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A7D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2"/>
          <p:cNvSpPr txBox="1"/>
          <p:nvPr/>
        </p:nvSpPr>
        <p:spPr>
          <a:xfrm>
            <a:off x="548639" y="256031"/>
            <a:ext cx="105156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F3A5F"/>
                </a:solidFill>
              </a:defRPr>
            </a:lvl1pPr>
          </a:lstStyle>
          <a:p>
            <a:pPr/>
            <a:r>
              <a:t>Bulk RNA-seq (1) — Tissue Modules Are Deeply Conserved</a:t>
            </a:r>
          </a:p>
        </p:txBody>
      </p:sp>
      <p:sp>
        <p:nvSpPr>
          <p:cNvPr id="110" name="TextBox 3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3 / 7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165510" y="1053387"/>
            <a:ext cx="4451520" cy="555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b="1" sz="1700">
                <a:solidFill>
                  <a:srgbClr val="444444"/>
                </a:solidFill>
              </a:defRPr>
            </a:pPr>
            <a:r>
              <a:t>▸ 27 tissue-defining co-expression modules (7,034 genes)</a:t>
            </a:r>
          </a:p>
          <a:p>
            <a:pPr>
              <a:spcBef>
                <a:spcPts val="300"/>
              </a:spcBef>
              <a:defRPr sz="1700">
                <a:solidFill>
                  <a:srgbClr val="666666"/>
                </a:solidFill>
              </a:defRPr>
            </a:pPr>
            <a:r>
              <a:t>– Each module maps cleanly to a tissue (liver M13, muscle M18, spleen M14, testis, ovary…)</a:t>
            </a:r>
          </a:p>
          <a:p>
            <a:pPr>
              <a:spcBef>
                <a:spcPts val="900"/>
              </a:spcBef>
              <a:defRPr b="1" sz="1700">
                <a:solidFill>
                  <a:srgbClr val="444444"/>
                </a:solidFill>
              </a:defRPr>
            </a:pPr>
            <a:r>
              <a:t>▸ Conservation is module-driven, not divergence-driven</a:t>
            </a:r>
          </a:p>
          <a:p>
            <a:pPr>
              <a:spcBef>
                <a:spcPts val="300"/>
              </a:spcBef>
              <a:defRPr sz="1700">
                <a:solidFill>
                  <a:srgbClr val="666666"/>
                </a:solidFill>
              </a:defRPr>
            </a:pPr>
            <a:r>
              <a:t>– Module membership preserved across all 26 vertebrates (6–429 My); Zsummary high throughout</a:t>
            </a:r>
          </a:p>
          <a:p>
            <a:pPr>
              <a:spcBef>
                <a:spcPts val="300"/>
              </a:spcBef>
              <a:defRPr sz="1700">
                <a:solidFill>
                  <a:srgbClr val="666666"/>
                </a:solidFill>
              </a:defRPr>
            </a:pPr>
            <a:r>
              <a:t>– But wiring diverges: connectivity preservation ≈ 0 while density preservation stays high</a:t>
            </a:r>
          </a:p>
          <a:p>
            <a:pPr>
              <a:spcBef>
                <a:spcPts val="900"/>
              </a:spcBef>
              <a:defRPr b="1" sz="1700">
                <a:solidFill>
                  <a:srgbClr val="444444"/>
                </a:solidFill>
              </a:defRPr>
            </a:pPr>
            <a:r>
              <a:t>▸ Phylogenetic signal is weak and uniform</a:t>
            </a:r>
          </a:p>
          <a:p>
            <a:pPr>
              <a:spcBef>
                <a:spcPts val="300"/>
              </a:spcBef>
              <a:defRPr sz="1700">
                <a:solidFill>
                  <a:srgbClr val="666666"/>
                </a:solidFill>
              </a:defRPr>
            </a:pPr>
            <a:r>
              <a:t>– Every module Blomberg’s K ≪ 1 (mean 0.18) — conservation does NOT track the phylogeny</a:t>
            </a:r>
          </a:p>
          <a:p>
            <a:pPr>
              <a:spcBef>
                <a:spcPts val="300"/>
              </a:spcBef>
              <a:defRPr sz="1700">
                <a:solidFill>
                  <a:srgbClr val="666666"/>
                </a:solidFill>
              </a:defRPr>
            </a:pPr>
            <a:r>
              <a:t>– A few modules carry signal (pituitary K=0.47, testis, spleen) — candidate adaptive programs</a:t>
            </a:r>
          </a:p>
          <a:p>
            <a:pPr>
              <a:spcBef>
                <a:spcPts val="900"/>
              </a:spcBef>
              <a:defRPr b="1" sz="1700">
                <a:solidFill>
                  <a:srgbClr val="444444"/>
                </a:solidFill>
              </a:defRPr>
            </a:pPr>
            <a:r>
              <a:t>▸ Takeaway: what is conserved is membership; how genes are wired shifts between species</a:t>
            </a:r>
          </a:p>
        </p:txBody>
      </p:sp>
      <p:pic>
        <p:nvPicPr>
          <p:cNvPr id="11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9992" y="1149543"/>
            <a:ext cx="7304491" cy="5042909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Box 6"/>
          <p:cNvSpPr txBox="1"/>
          <p:nvPr/>
        </p:nvSpPr>
        <p:spPr>
          <a:xfrm>
            <a:off x="7681201" y="6392409"/>
            <a:ext cx="4114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/>
            <a:r>
              <a:t>Cross-species module preservation (26 vertebrates)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A7D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"/>
          <p:cNvSpPr txBox="1"/>
          <p:nvPr/>
        </p:nvSpPr>
        <p:spPr>
          <a:xfrm>
            <a:off x="548639" y="256031"/>
            <a:ext cx="105156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F3A5F"/>
                </a:solidFill>
              </a:defRPr>
            </a:lvl1pPr>
          </a:lstStyle>
          <a:p>
            <a:pPr/>
            <a:r>
              <a:t>Bulk RNA-seq (2) — Context-Dependent TF Cocktails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4 / 7</a:t>
            </a:r>
          </a:p>
        </p:txBody>
      </p:sp>
      <p:sp>
        <p:nvSpPr>
          <p:cNvPr id="118" name="TextBox 4"/>
          <p:cNvSpPr txBox="1"/>
          <p:nvPr/>
        </p:nvSpPr>
        <p:spPr>
          <a:xfrm>
            <a:off x="233969" y="847093"/>
            <a:ext cx="4687971" cy="5726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b="1">
                <a:solidFill>
                  <a:srgbClr val="444444"/>
                </a:solidFill>
              </a:defRPr>
            </a:pPr>
            <a:r>
              <a:t>▸ One TF, different partners in different tissues</a:t>
            </a:r>
          </a:p>
          <a:p>
            <a:pPr>
              <a:spcBef>
                <a:spcPts val="300"/>
              </a:spcBef>
              <a:defRPr>
                <a:solidFill>
                  <a:srgbClr val="666666"/>
                </a:solidFill>
              </a:defRPr>
            </a:pPr>
            <a:r>
              <a:t>– The regulatory backbone (TF sub-networks) preserves BETTER than the full modules</a:t>
            </a:r>
          </a:p>
          <a:p>
            <a:pPr>
              <a:spcBef>
                <a:spcPts val="300"/>
              </a:spcBef>
              <a:defRPr>
                <a:solidFill>
                  <a:srgbClr val="666666"/>
                </a:solidFill>
              </a:defRPr>
            </a:pPr>
            <a:r>
              <a:t>– FOXA1 acts with distinct co-factors per tissue; HNF1A+HNF4A+HNF1B define liver</a:t>
            </a:r>
          </a:p>
          <a:p>
            <a:pPr>
              <a:spcBef>
                <a:spcPts val="900"/>
              </a:spcBef>
              <a:defRPr b="1">
                <a:solidFill>
                  <a:srgbClr val="444444"/>
                </a:solidFill>
              </a:defRPr>
            </a:pPr>
            <a:r>
              <a:t>▸ Strongest cocktails (XGBoost SHAP interaction)</a:t>
            </a:r>
          </a:p>
          <a:p>
            <a:pPr>
              <a:spcBef>
                <a:spcPts val="300"/>
              </a:spcBef>
              <a:defRPr>
                <a:solidFill>
                  <a:srgbClr val="666666"/>
                </a:solidFill>
              </a:defRPr>
            </a:pPr>
            <a:r>
              <a:t>– Spleen/immune M14: IKZF1×BHLHA15 (1.18), IKZF1×IRF4 (1.15)</a:t>
            </a:r>
          </a:p>
          <a:p>
            <a:pPr>
              <a:spcBef>
                <a:spcPts val="300"/>
              </a:spcBef>
              <a:defRPr>
                <a:solidFill>
                  <a:srgbClr val="666666"/>
                </a:solidFill>
              </a:defRPr>
            </a:pPr>
            <a:r>
              <a:t>– Liver M13: NR1I3(CAR)×ATF5 (1.11)</a:t>
            </a:r>
          </a:p>
          <a:p>
            <a:pPr>
              <a:spcBef>
                <a:spcPts val="300"/>
              </a:spcBef>
              <a:defRPr>
                <a:solidFill>
                  <a:srgbClr val="666666"/>
                </a:solidFill>
              </a:defRPr>
            </a:pPr>
            <a:r>
              <a:t>– Immune M10: IKZF1×SPI1 (0.79)</a:t>
            </a:r>
          </a:p>
          <a:p>
            <a:pPr>
              <a:spcBef>
                <a:spcPts val="900"/>
              </a:spcBef>
              <a:defRPr b="1">
                <a:solidFill>
                  <a:srgbClr val="444444"/>
                </a:solidFill>
              </a:defRPr>
            </a:pPr>
            <a:r>
              <a:t>▸ Validation vs DoRothEA gold standard</a:t>
            </a:r>
          </a:p>
          <a:p>
            <a:pPr>
              <a:spcBef>
                <a:spcPts val="300"/>
              </a:spcBef>
              <a:defRPr>
                <a:solidFill>
                  <a:srgbClr val="666666"/>
                </a:solidFill>
              </a:defRPr>
            </a:pPr>
            <a:r>
              <a:t>– Ensemble GRN AUROC 0.67–0.69; best on high-confidence TF sets</a:t>
            </a:r>
          </a:p>
          <a:p>
            <a:pPr>
              <a:spcBef>
                <a:spcPts val="900"/>
              </a:spcBef>
              <a:defRPr b="1">
                <a:solidFill>
                  <a:srgbClr val="444444"/>
                </a:solidFill>
              </a:defRPr>
            </a:pPr>
            <a:r>
              <a:t>▸ Caveat that motivates single-cell: bulk cannot tell a cell-intrinsic driver</a:t>
            </a:r>
          </a:p>
          <a:p>
            <a:pPr lvl="1">
              <a:spcBef>
                <a:spcPts val="100"/>
              </a:spcBef>
              <a:defRPr>
                <a:solidFill>
                  <a:srgbClr val="666666"/>
                </a:solidFill>
              </a:defRPr>
            </a:pPr>
            <a:r>
              <a:t>  from a TF that merely tracks how much of a cell type is in the tissue</a:t>
            </a:r>
          </a:p>
        </p:txBody>
      </p:sp>
      <p:pic>
        <p:nvPicPr>
          <p:cNvPr id="11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60035" y="847093"/>
            <a:ext cx="6804914" cy="291206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Box 6"/>
          <p:cNvSpPr txBox="1"/>
          <p:nvPr/>
        </p:nvSpPr>
        <p:spPr>
          <a:xfrm>
            <a:off x="7571667" y="6392409"/>
            <a:ext cx="4114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/>
            <a:r>
              <a:t>Bulk TF cocktail interactions (SHAP)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A7D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2"/>
          <p:cNvSpPr txBox="1"/>
          <p:nvPr/>
        </p:nvSpPr>
        <p:spPr>
          <a:xfrm>
            <a:off x="548639" y="256031"/>
            <a:ext cx="105156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F3A5F"/>
                </a:solidFill>
              </a:defRPr>
            </a:lvl1pPr>
          </a:lstStyle>
          <a:p>
            <a:pPr/>
            <a:r>
              <a:t>Single-Cell (1) — The Thesis Holds at Cell-Type Resolution</a:t>
            </a:r>
          </a:p>
        </p:txBody>
      </p:sp>
      <p:sp>
        <p:nvSpPr>
          <p:cNvPr id="124" name="TextBox 3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5 / 7</a:t>
            </a:r>
          </a:p>
        </p:txBody>
      </p:sp>
      <p:sp>
        <p:nvSpPr>
          <p:cNvPr id="125" name="TextBox 4"/>
          <p:cNvSpPr txBox="1"/>
          <p:nvPr/>
        </p:nvSpPr>
        <p:spPr>
          <a:xfrm>
            <a:off x="357196" y="1220748"/>
            <a:ext cx="3639440" cy="4850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Single-cell separates the cell types bulk mixed together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4 tissues × 3 species; per-cell-type regulons for plasma cell, hepatocyte, monocyte, T cell…</a:t>
            </a:r>
          </a:p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“Membership conserved, wiring drifts” — confirmed within cell types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Regulator sets conserved 3.5× more than target wiring (motif-pruned Tier-4; 2.4× in co-expression, 3.2–5.0× above chance)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Held-out test: lemur regulons predicted from human+mouse track conservation at ρ = 0.79</a:t>
            </a:r>
          </a:p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Canonical masters survive strict cisTarget motif pruning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XBP1 (plasma cell), HNF4A (hepatocyte), CEBPB + FOS (monocyte, all 3 species)</a:t>
            </a:r>
          </a:p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Reaches teleost: master regulators recur in zebrafish (~450 My; p ≤ 0.016)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Brackets marsupials &amp; Afrotheria — the conserved core “goes the distance”</a:t>
            </a:r>
          </a:p>
        </p:txBody>
      </p:sp>
      <p:pic>
        <p:nvPicPr>
          <p:cNvPr id="12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51499" y="1267608"/>
            <a:ext cx="7464060" cy="3957023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Box 6"/>
          <p:cNvSpPr txBox="1"/>
          <p:nvPr/>
        </p:nvSpPr>
        <p:spPr>
          <a:xfrm>
            <a:off x="7603453" y="6392409"/>
            <a:ext cx="42062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/>
            <a:r>
              <a:t>Regulator-identity vs target-set conservation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A7D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2"/>
          <p:cNvSpPr txBox="1"/>
          <p:nvPr/>
        </p:nvSpPr>
        <p:spPr>
          <a:xfrm>
            <a:off x="548639" y="256031"/>
            <a:ext cx="105156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F3A5F"/>
                </a:solidFill>
              </a:defRPr>
            </a:lvl1pPr>
          </a:lstStyle>
          <a:p>
            <a:pPr/>
            <a:r>
              <a:t>Single-Cell (2) — Bulk vs Single-Cell Master Regulators Differ</a:t>
            </a:r>
          </a:p>
        </p:txBody>
      </p:sp>
      <p:sp>
        <p:nvSpPr>
          <p:cNvPr id="131" name="TextBox 3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6 / 7</a:t>
            </a:r>
          </a:p>
        </p:txBody>
      </p:sp>
      <p:sp>
        <p:nvSpPr>
          <p:cNvPr id="132" name="TextBox 4"/>
          <p:cNvSpPr txBox="1"/>
          <p:nvPr/>
        </p:nvSpPr>
        <p:spPr>
          <a:xfrm>
            <a:off x="671830" y="965442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444444"/>
                </a:solidFill>
              </a:defRPr>
            </a:lvl1pPr>
          </a:lstStyle>
          <a:p>
            <a:pPr/>
            <a:r>
              <a:t>Single-cell resolves the true cell-intrinsic master; bulk names composition-linked TFs instead.</a:t>
            </a:r>
          </a:p>
        </p:txBody>
      </p:sp>
      <p:graphicFrame>
        <p:nvGraphicFramePr>
          <p:cNvPr id="133" name="Table 5"/>
          <p:cNvGraphicFramePr/>
          <p:nvPr/>
        </p:nvGraphicFramePr>
        <p:xfrm>
          <a:off x="488949" y="1578089"/>
          <a:ext cx="11201401" cy="4206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103120"/>
                <a:gridCol w="2468880"/>
                <a:gridCol w="2468880"/>
                <a:gridCol w="4160520"/>
              </a:tblGrid>
              <a:tr h="84124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Cell type / module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Bulk RNA-seq masters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Single-cell masters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single-cell reveals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F3A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Plasma cell (M14)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B2182B"/>
                          </a:solidFill>
                        </a:rPr>
                        <a:t>IKZF1 / NKX2-3 / EBF4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2A7D8B"/>
                          </a:solidFill>
                        </a:rPr>
                        <a:t>XBP1 / JUND / TCF12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XBP1 = the true UPR/secretory master; IKZF1 was a B/plasma composition signal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Hepatocyte (M13)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B2182B"/>
                          </a:solidFill>
                        </a:rPr>
                        <a:t>NR1I3 / ATF5 / PROX1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2A7D8B"/>
                          </a:solidFill>
                        </a:rPr>
                        <a:t>NFIA / KLF12 / ETV6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Bulk xenobiotic-TFs give way to cell-intrinsic drivers; MLXIPL×NR1H4 genuine all 3 sp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Monocyte (M15)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B2182B"/>
                          </a:solidFill>
                        </a:rPr>
                        <a:t>STAT6 / TBX21 / SP110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2A7D8B"/>
                          </a:solidFill>
                        </a:rPr>
                        <a:t>SPI1 / FOSB / MAF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SPI1/PU.1 — the canonical myeloid master — emerges only at single-cell resolution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5F7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T cell (M10)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B2182B"/>
                          </a:solidFill>
                        </a:rPr>
                        <a:t>IKZF1 / TBX21 / SPI1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2A7D8B"/>
                          </a:solidFill>
                        </a:rPr>
                        <a:t>MZF1 / BACH2 / IRF4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444444"/>
                          </a:solidFill>
                        </a:rPr>
                        <a:t>Bulk repeats IKZF1 (same as plasma) — a shared-lymphocyte artifact; sc separates them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TextBox 6"/>
          <p:cNvSpPr txBox="1"/>
          <p:nvPr/>
        </p:nvSpPr>
        <p:spPr>
          <a:xfrm>
            <a:off x="534669" y="5848338"/>
            <a:ext cx="10881362" cy="62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900">
                <a:solidFill>
                  <a:srgbClr val="666666"/>
                </a:solidFill>
              </a:defRPr>
            </a:lvl1pPr>
          </a:lstStyle>
          <a:p>
            <a:pPr/>
            <a:r>
              <a:t>Bulk = XGBoost gain rank (whole-tissue);  Single-cell = pySCENIC motif-pruned regulon, module-gene targets (human).  Red = bulk, teal = single-cell.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A7D8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548639" y="256031"/>
            <a:ext cx="105156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1F3A5F"/>
                </a:solidFill>
              </a:defRPr>
            </a:lvl1pPr>
          </a:lstStyle>
          <a:p>
            <a:pPr/>
            <a:r>
              <a:t>Bottom Line — Why Both Views Matter</a:t>
            </a:r>
          </a:p>
        </p:txBody>
      </p:sp>
      <p:sp>
        <p:nvSpPr>
          <p:cNvPr id="138" name="TextBox 3"/>
          <p:cNvSpPr txBox="1"/>
          <p:nvPr/>
        </p:nvSpPr>
        <p:spPr>
          <a:xfrm>
            <a:off x="11247119" y="6382511"/>
            <a:ext cx="7772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666666"/>
                </a:solidFill>
              </a:defRPr>
            </a:lvl1pPr>
          </a:lstStyle>
          <a:p>
            <a:pPr/>
            <a:r>
              <a:t>7 / 7</a:t>
            </a:r>
          </a:p>
        </p:txBody>
      </p:sp>
      <p:sp>
        <p:nvSpPr>
          <p:cNvPr id="139" name="TextBox 4"/>
          <p:cNvSpPr txBox="1"/>
          <p:nvPr/>
        </p:nvSpPr>
        <p:spPr>
          <a:xfrm>
            <a:off x="275045" y="1152288"/>
            <a:ext cx="3951410" cy="509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The regulatory logic of tissues is ancient, but written in the regulators — not the wiring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Conserved across 26 vertebrates (bulk) and confirmed within cell types to teleost (single-cell)</a:t>
            </a:r>
          </a:p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Single-cell corrects bulk’s composition confound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Bulk “masters” IKZF1 (plasma &amp; T cell) reflect lymphocyte content, not cell-intrinsic control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Single-cell recovers the textbook masters: XBP1 (plasma), SPI1/PU.1 (monocyte), HNF4A (liver)</a:t>
            </a:r>
          </a:p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Bulk SHAP magnitude does NOT predict single-cell validation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MLXIPL×NR1H4 (hepatocyte) genuine in all 3 species yet under-ranked in bulk</a:t>
            </a:r>
          </a:p>
          <a:p>
            <a:pPr marL="130342" indent="-130342">
              <a:spcBef>
                <a:spcPts val="300"/>
              </a:spcBef>
              <a:buSzPct val="100000"/>
              <a:buChar char="•"/>
              <a:defRPr sz="1300">
                <a:solidFill>
                  <a:srgbClr val="666666"/>
                </a:solidFill>
              </a:defRPr>
            </a:pPr>
            <a:r>
              <a:t>KZF1×IRF4 (top bulk spleen cocktail) genuine in lemur only</a:t>
            </a:r>
          </a:p>
          <a:p>
            <a:pPr>
              <a:spcBef>
                <a:spcPts val="900"/>
              </a:spcBef>
              <a:defRPr b="1" sz="1500">
                <a:solidFill>
                  <a:srgbClr val="444444"/>
                </a:solidFill>
              </a:defRPr>
            </a:pPr>
            <a:r>
              <a:t>▸ U bulk to find conserved programs across species; use single-cell to name the TF that actually drives the program in the cell you care about</a:t>
            </a:r>
          </a:p>
        </p:txBody>
      </p:sp>
      <p:pic>
        <p:nvPicPr>
          <p:cNvPr id="14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rcRect l="0" t="0" r="65693" b="0"/>
          <a:stretch>
            <a:fillRect/>
          </a:stretch>
        </p:blipFill>
        <p:spPr>
          <a:xfrm>
            <a:off x="6559610" y="416895"/>
            <a:ext cx="3951439" cy="3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Box 6"/>
          <p:cNvSpPr txBox="1"/>
          <p:nvPr/>
        </p:nvSpPr>
        <p:spPr>
          <a:xfrm>
            <a:off x="7658220" y="6392409"/>
            <a:ext cx="42062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/>
            <a:r>
              <a:t>Tier-4 motif-pruned regulon conservation &amp; stability</a:t>
            </a:r>
          </a:p>
        </p:txBody>
      </p:sp>
      <p:pic>
        <p:nvPicPr>
          <p:cNvPr id="14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rcRect l="35043" t="0" r="0" b="0"/>
          <a:stretch>
            <a:fillRect/>
          </a:stretch>
        </p:blipFill>
        <p:spPr>
          <a:xfrm>
            <a:off x="4497025" y="3613304"/>
            <a:ext cx="7481615" cy="31929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