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Conserved Gene Co-expression &amp;</a:t>
            </a:r>
            <a:br/>
            <a:r>
              <a:t>Transcription-Factor Regulatory Logic Across Vertebrates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94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BFD7EA"/>
                </a:solidFill>
                <a:latin typeface="Calibri"/>
              </a:rPr>
              <a:t>Bulk RNA-seq analysis — human GTEx reference, tested across 26 vertebrate species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recount3 · Bgee v15.2 · FarmGTEx  |  WGCNA modules → cross-species preservation → phylogenetic signal → TF regulatory network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Calibri"/>
              </a:rPr>
              <a:t>Companion bulk-RNA-seq track to the single-cell confirmation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444444"/>
                </a:solidFill>
                <a:latin typeface="Calibri"/>
              </a:rPr>
              <a:t>▸ How does one genome give rise to many cell types and tissues — and how much of that regulatory architecture is conserved across evolution?</a:t>
            </a:r>
          </a:p>
          <a:p>
            <a:pPr algn="l" lvl="1">
              <a:spcAft>
                <a:spcPts val="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– Co-expression modules capture tissue- and cell-type programs driven by differential expression and transcription factors</a:t>
            </a:r>
          </a:p>
          <a:p>
            <a:pPr algn="l" lvl="1">
              <a:spcAft>
                <a:spcPts val="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– Which modules are preserved across the vertebrate tree, and which are evolutionarily labile?</a:t>
            </a:r>
          </a:p>
          <a:p>
            <a:pPr algn="l" lvl="1">
              <a:spcAft>
                <a:spcPts val="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– Does the conserved co-expression architecture carry a conserved TF regulatory logic?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444444"/>
                </a:solidFill>
                <a:latin typeface="Calibri"/>
              </a:rPr>
              <a:t>▸ Scope decision (with the researcher): tissue-resolved reference, not organism-averaged networks</a:t>
            </a:r>
          </a:p>
          <a:p>
            <a:pPr algn="l" lvl="1">
              <a:spcAft>
                <a:spcPts val="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– Organism-averaged expression collapses exactly the cell-type signal of interest</a:t>
            </a:r>
          </a:p>
          <a:p>
            <a:pPr algn="l" lvl="1">
              <a:spcAft>
                <a:spcPts val="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– Strategy: discover modules in a well-powered reference (human GTEx), then test preservation in a broad species panel, then build the TF layer on the conserved modules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Approach — Two Stages, Two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3 /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03120"/>
            <a:ext cx="2651760" cy="237744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BFD7EA"/>
                </a:solidFill>
                <a:latin typeface="Calibri"/>
              </a:rPr>
              <a:t>STAGE 1</a:t>
            </a:r>
          </a:p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Human GTEx</a:t>
            </a:r>
            <a:br/>
            <a:r>
              <a:t>WGCNA modules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DE8F0"/>
                </a:solidFill>
                <a:latin typeface="Calibri"/>
              </a:rPr>
              <a:t>30 tissues · 3,267 samples</a:t>
            </a:r>
            <a:br/>
            <a:r>
              <a:t>→ 27 modules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64680" y="3017520"/>
            <a:ext cx="236032" cy="548640"/>
          </a:xfrm>
          <a:prstGeom prst="rightArrow">
            <a:avLst/>
          </a:prstGeom>
          <a:solidFill>
            <a:srgbClr val="CC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10712" y="2103120"/>
            <a:ext cx="2651760" cy="2377440"/>
          </a:xfrm>
          <a:prstGeom prst="round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BFD7EA"/>
                </a:solidFill>
                <a:latin typeface="Calibri"/>
              </a:rPr>
              <a:t>STAGE 2</a:t>
            </a:r>
          </a:p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Cross-species</a:t>
            </a:r>
            <a:br/>
            <a:r>
              <a:t>preservation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DE8F0"/>
                </a:solidFill>
                <a:latin typeface="Calibri"/>
              </a:rPr>
              <a:t>26 species · 12 clades</a:t>
            </a:r>
            <a:br/>
            <a:r>
              <a:t>Zsummary test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72472" y="3017520"/>
            <a:ext cx="236032" cy="548640"/>
          </a:xfrm>
          <a:prstGeom prst="rightArrow">
            <a:avLst/>
          </a:prstGeom>
          <a:solidFill>
            <a:srgbClr val="CC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18504" y="2103120"/>
            <a:ext cx="2651760" cy="237744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BFD7EA"/>
                </a:solidFill>
                <a:latin typeface="Calibri"/>
              </a:rPr>
              <a:t>PHASE A</a:t>
            </a:r>
          </a:p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Phylogenetic</a:t>
            </a:r>
            <a:br/>
            <a:r>
              <a:t>signal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DE8F0"/>
                </a:solidFill>
                <a:latin typeface="Calibri"/>
              </a:rPr>
              <a:t>Blomberg K · Pagel λ</a:t>
            </a:r>
            <a:br/>
            <a:r>
              <a:t>on timetree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980264" y="3017520"/>
            <a:ext cx="236032" cy="548640"/>
          </a:xfrm>
          <a:prstGeom prst="rightArrow">
            <a:avLst/>
          </a:prstGeom>
          <a:solidFill>
            <a:srgbClr val="CC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26296" y="2103120"/>
            <a:ext cx="2651760" cy="2377440"/>
          </a:xfrm>
          <a:prstGeom prst="round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BFD7EA"/>
                </a:solidFill>
                <a:latin typeface="Calibri"/>
              </a:rPr>
              <a:t>PHASE B</a:t>
            </a:r>
          </a:p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TF regulatory</a:t>
            </a:r>
            <a:br/>
            <a:r>
              <a:t>layer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DE8F0"/>
                </a:solidFill>
                <a:latin typeface="Calibri"/>
              </a:rPr>
              <a:t>793 TFs · ensemble GRN</a:t>
            </a:r>
            <a:br/>
            <a:r>
              <a:t>cocktails ·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444444"/>
                </a:solidFill>
                <a:latin typeface="Calibri"/>
              </a:rPr>
              <a:t>All results below are from bulk RNA-seq only. Modules are discovered once in human and then tested — not re-derived — in every other species, so preservation is a genuine out-of-sample test.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Methods &amp;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4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444444"/>
                </a:solidFill>
                <a:latin typeface="Calibri"/>
              </a:rPr>
              <a:t>▸ Data sources (bulk RNA-seq)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Human reference: recount3 GTEx — 30 tissues, 3,267 samples (balanced subsample)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Cross-species: Bgee v15.2 (24 species) + FarmGTEx cattle; 26 species, 12 clades, 6.4–429 My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Independent cross-check: ENCODE mouse (419 samples, 20 tissues)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444444"/>
                </a:solidFill>
                <a:latin typeface="Calibri"/>
              </a:rPr>
              <a:t>▸ Module discovery — WGCNA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CPM→log2, variance-filtered to 14,000 genes; signed-hybrid network, soft power β=8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Signed TOM → hierarchical clustering → dynamicTreeCut → eigengene merge (r&gt;0.75)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Pure-Python reimplementation (no osx-arm64 R build), validated against mouse network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444444"/>
                </a:solidFill>
                <a:latin typeface="Calibri"/>
              </a:rPr>
              <a:t>▸ Cross-species &amp; regulatory analysis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Preservation: WGCNA Zsummary (Langfelder 2011) on 1:1 orthologs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Phylo signal: Blomberg's K + Pagel's λ on TimeTree ultrametric tree (ape/phytools)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TF layer: GO/JASPAR annotation · 3-method GRN ensemble (GENIE3+GRNBoost2+CLR) · XGBoost/SHAP cocktails · DoRothEA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Stage 1 — 27 Tissue-Defining Modules in Human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5 / 11</a:t>
            </a:r>
          </a:p>
        </p:txBody>
      </p:sp>
      <p:pic>
        <p:nvPicPr>
          <p:cNvPr id="5" name="Picture 4" descr="vbec97425_stage1_module_t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30489"/>
            <a:ext cx="7498079" cy="45285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0" y="137160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</a:rPr>
              <a:t>▸ 27 modules, 7,034 genes assigned</a:t>
            </a:r>
          </a:p>
          <a:p>
            <a:pPr algn="l" lvl="1">
              <a:spcAft>
                <a:spcPts val="3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– Cleanly tissue-organised</a:t>
            </a:r>
          </a:p>
          <a:p>
            <a:pPr algn="l" lvl="1">
              <a:spcAft>
                <a:spcPts val="3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– Marker-validated: pancreas 6/6, liver 5/6, muscle 5/6, spleen 5/6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</a:rPr>
              <a:t>▸ Resolves sub-tissue programs</a:t>
            </a:r>
          </a:p>
          <a:p>
            <a:pPr algn="l" lvl="1">
              <a:spcAft>
                <a:spcPts val="3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– Brain → synaptic / mitochondrial / glial</a:t>
            </a:r>
          </a:p>
          <a:p>
            <a:pPr algn="l" lvl="1">
              <a:spcAft>
                <a:spcPts val="3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– Liver → xenobiotic vs core metabolism</a:t>
            </a:r>
          </a:p>
          <a:p>
            <a:pPr algn="l" lvl="1">
              <a:spcAft>
                <a:spcPts val="3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– Testis → meiosis / DNA-repair / spermatogenesis</a:t>
            </a:r>
          </a:p>
          <a:p>
            <a:pPr algn="l" lvl="1">
              <a:spcAft>
                <a:spcPts val="3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– The cell-type structure recovered from bulk co-expression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Stage 2 — Conservation Is Module-Driven, Not Divergence-Driven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6 / 11</a:t>
            </a:r>
          </a:p>
        </p:txBody>
      </p:sp>
      <p:pic>
        <p:nvPicPr>
          <p:cNvPr id="5" name="Picture 4" descr="v3a18a456_stage2_crossspecies_pre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58" y="1234440"/>
            <a:ext cx="7417083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0" y="137160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26 species · 12 clades · 6.4–429 My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Preservation vs divergence time: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Spearman ρ = −0.24, p = 0.23 (n.s.)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conservation does NOT decay with distance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Universally conserved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brain M9 (Zsum 24.9), testis M8 (22.6), ovary M2 (21.5), muscle M18, spleen M10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Labile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pancreas M23, adipose M25, lung M27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Mouse cross-check: 23/26 modules recovered independently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Phase A — Conservation Does Not Track the Phylogeny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7 / 11</a:t>
            </a:r>
          </a:p>
        </p:txBody>
      </p:sp>
      <p:pic>
        <p:nvPicPr>
          <p:cNvPr id="5" name="Picture 4" descr="v9392f5c6_phaseA_phylo_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54144"/>
            <a:ext cx="7498079" cy="4081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0" y="137160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Every module K ≪ 1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range 0.055–0.468, mean 0.18 (K=1 = Brownian)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Only 5/27 significant K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M3 pituitary K=0.47 (p=0.002), M14 spleen, M20 testis, M11 adipose, M5 ovary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Counterintuitive core result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the most-conserved modules have the LOWEST K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core programs conserved everywhere at once — deep stabilizing selection, not graded by relatedness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phylo signal lives in the labile modules — where regulation genuinely varies by clade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Phase B — TF Regulatory Network on Conserved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8 / 11</a:t>
            </a:r>
          </a:p>
        </p:txBody>
      </p:sp>
      <p:pic>
        <p:nvPicPr>
          <p:cNvPr id="5" name="Picture 4" descr="va73f657d_phaseB_G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439457"/>
            <a:ext cx="5852160" cy="2619166"/>
          </a:xfrm>
          <a:prstGeom prst="rect">
            <a:avLst/>
          </a:prstGeom>
        </p:spPr>
      </p:pic>
      <p:pic>
        <p:nvPicPr>
          <p:cNvPr id="6" name="Picture 5" descr="v411340cc_phaseB_cocktai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496869"/>
            <a:ext cx="5852160" cy="25043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636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i="1">
                <a:solidFill>
                  <a:srgbClr val="444444"/>
                </a:solidFill>
                <a:latin typeface="Calibri"/>
              </a:rPr>
              <a:t>793 TFs annotated · 3-method ensemble GRN (396,286 edges, 165,531 with ≥2-method support) · master regulators rank at the top of their modules (HNF4A #1 liver, IKZF1 #1 immune, SOX2 a top-3 brain regulator) · combinatorial codes recovered from expression alone (HNF1A+HNF4A, IKZF1×SPI1, FOXM1×E2F2)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Key Finding — Regulatory Backbone Is the Conserved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10 / 11</a:t>
            </a:r>
          </a:p>
        </p:txBody>
      </p:sp>
      <p:pic>
        <p:nvPicPr>
          <p:cNvPr id="5" name="Picture 4" descr="v12f53282_phaseB_regulon_con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79056"/>
            <a:ext cx="7863840" cy="3448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371600"/>
            <a:ext cx="3703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444444"/>
                </a:solidFill>
                <a:latin typeface="Calibri"/>
              </a:rPr>
              <a:t>▸ TF regulator sub-networks preserve BETTER than full modules</a:t>
            </a:r>
          </a:p>
          <a:p>
            <a:pPr algn="l" lvl="1">
              <a:spcAft>
                <a:spcPts val="30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– 0.46 vs 0.35 (Wilcoxon p=0.06); 10/15 modules</a:t>
            </a:r>
          </a:p>
          <a:p>
            <a:pPr algn="l" lvl="1">
              <a:spcAft>
                <a:spcPts val="30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– liver HNF core 0.94 vs 0.53 full module</a:t>
            </a:r>
          </a:p>
          <a:p>
            <a:pPr algn="l" lvl="1">
              <a:spcAft>
                <a:spcPts val="30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– Membership drifts; core regulatory logic is locked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444444"/>
                </a:solidFill>
                <a:latin typeface="Calibri"/>
              </a:rPr>
              <a:t>▸ Clade-variable regulation is localised</a:t>
            </a:r>
          </a:p>
          <a:p>
            <a:pPr algn="l" lvl="1">
              <a:spcAft>
                <a:spcPts val="30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– M11 adipose: regulators rewire AND carry phylo signal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444444"/>
                </a:solidFill>
                <a:latin typeface="Calibri"/>
              </a:rPr>
              <a:t>▸ TF-family axis</a:t>
            </a:r>
          </a:p>
          <a:p>
            <a:pPr algn="l" lvl="1">
              <a:spcAft>
                <a:spcPts val="30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– M3 pituitary (highest K) is 93% C2H2 zinc-finger — the fastest-evolving TF family</a:t>
            </a:r>
          </a:p>
          <a:p>
            <a:pPr algn="l" lvl="1">
              <a:spcAft>
                <a:spcPts val="30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– conserved logic borne by classical TFs; labile signal in KRAB-ZNF 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Validation &amp;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11 / 11</a:t>
            </a:r>
          </a:p>
        </p:txBody>
      </p:sp>
      <p:pic>
        <p:nvPicPr>
          <p:cNvPr id="5" name="Picture 4" descr="v2c87d96f_phaseB_gr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2643"/>
            <a:ext cx="6766560" cy="25955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1208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444444"/>
                </a:solidFill>
                <a:latin typeface="Calibri"/>
              </a:rPr>
              <a:t>GRN vs DoRothEA gold standard: AUROC 0.67–0.69 (best on highest-confidence tier), AUPRC 4.5–7× baseline. Master regulators recover individually: HNF1A 0.93, FOXA2/SPI1 0.78, SOX2 0.75.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7160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Takeaways (bulk RNA-seq)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27 human modules; 23/26 recovered in mouse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Conservation is module-identity-driven, not divergence-driven (ρ=−0.24 n.s.)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Core programs conserved everywhere at once; phylo signal in labile modules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Conserved co-expression DOES carry conserved TF logic — the regulatory backbone is the deepest-conserved layer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Next: single-cell confirmation (in progress) + genome-scale orthogroups/motif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F3A5F"/>
                </a:solidFill>
                <a:latin typeface="Calibri"/>
              </a:rPr>
              <a:t>Context-Dependent Regulation — One TF, Different Cocktails, Different Targets</a:t>
            </a:r>
          </a:p>
        </p:txBody>
      </p:sp>
      <p:pic>
        <p:nvPicPr>
          <p:cNvPr id="4" name="Picture 3" descr="v9080669a_slide_context_T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143000"/>
            <a:ext cx="9509760" cy="46356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444444"/>
                </a:solidFill>
                <a:latin typeface="Calibri"/>
              </a:rPr>
              <a:t>Directly answers the motivating question. FOXA1 (a pioneer factor) and SPI1/PU.1 (a combinatorial regulator) each control completely non-overlapping gene sets (0% target overlap) in different tissues — and the SHAP-inferred partner cocktail differs with them: FOXA1+GRHL2 drives epithelial genes (SPDEF, TMPRSS2) in salivary gland, FOXA1+NR1I3/CAR drives xenobiotic metabolism (CYP3A5, UGT1A1) in liver.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38251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9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