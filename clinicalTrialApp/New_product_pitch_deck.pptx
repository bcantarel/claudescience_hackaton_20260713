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ClinicalTrialFinder — a decision-support tool that helps a physician find candidate NSCLC clinical trials for a patient by matching on diagnosis, gene profile, age and sex. Positioning: a candidate finder for physician review, never an eligibility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clinical problem. Only a small fraction of adult cancer patients ever enroll in a trial, and a large share of oncology trials close without meeting enrollment. Patients miss trials they were biologically eligible for because the matching work is manual, buried in free text, and time-starved at the point of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matching is hard. Everything clinically interesting on the trial side lives in one free-text eligibility blob. Only age and sex are truly structured. Biomarker requirements point in different directions — required, wild-type, or excluded — and the same gene is worded a dozen ways. And the recruiting flag itself can't be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design principle: deterministic where it can be, LLM only where it must be, uncertainty surfaced rather than hidden. The LLM only interprets which direction a criterion points. The met/not-met logic is a verified truth table in code. So every result is explainable.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works, end to end. Stage 1 is a deterministic diagnosis and structured filter — an OncoTree ancestor walk plus age, sex, status. Stage 2 is the gene check, cached per trial-gene, where the LLM interprets direction and a deterministic map turns direction times patient status into met/not-met/unknown. Stage 3 ranks and shows, with the source sentence and a link. Never a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mechanism. Every biomarker call carries the exact source sentence from the trial's own eligibility text, tagged inclusion or exclusion, with a confidence. This is what lets a clinician catch the known gene-level-not-variant-level limitation — for example an EGFR T790M patient matching a trial that wants EGFR L858R. We rank-and-surface, never auto-exclude, so a 'not met' trial is ranked low, not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itself — a single self-contained page a physician opens in any browser. Left: enter diagnosis, age, sex, click gene chips to cycle altered / wild-type. Right: a ranked candidate list, biomarker-met first, each card showing the per-dimension basis, the cited sentence, and a CT.gov link. This is a faithful mock of the shipped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finding that became a feature. CT.gov's recruiting flag is not trustworthy. Measured across the 1,287-trial pull: 17% observational, 20% with a primary completion date already in the past, 28% not updated in over a year. Rather than hide behind the status field, we filter to interventional and not-past-completion, and flag likely-stale trials with a badge that shows the physician the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stands. Built for the ClaudeScience hackathon: a self-contained, clinician-testable MVP. 998 interventional trials, 1,563 cached classifications across the driver genes, 12 synthetic de-identified test cases. It is not yet clinically validated — a clinician review is the next real accuracy signal, and we expect roughly the published TrialGPT ceiling around 87% at the criterion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NSCLC is the right beachhead and where this goes. NSCLC is about 85% of lung cancers, the leading cause of cancer death, and the most biomarker-driven solid tumor — which makes gene-gated matching both hardest and most valuable here. The same architecture generalizes: the deterministic diagnosis layer is already the full OncoTree hierarchy, and the gene layer is a dictionary plus classifier that extends tumor by tumor.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beyond the NSCLC MVP. Near term: variant-level matching via OncoKB and HGVS to close the gene-level false-positive gap; broader eligibility dimensions — prior therapy, ECOG, stage, brain mets; and ICD-10 / SNOMED diagnosis input beyond OncoTree. Then expand to more tumor types on the same engine, add a scheduled CT.gov refresh, and the deferred iOS wrapper. The through-line: same safe posture, wider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principles that hold throughout, which are also the reason a clinical and scientific partner can trust it. Deterministic where it can be. AI only where it must be. Uncertainty surfaced, never hidden. Rank and surface, never auto-exclude. Physician in the loop. This is not a medical device and gives no medical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gradFill rotWithShape="1">
            <a:gsLst>
              <a:gs pos="0">
                <a:srgbClr val="F4F8FC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1430000" y="0"/>
            <a:ext cx="9525" cy="10287000"/>
          </a:xfrm>
          <a:prstGeom prst="rect">
            <a:avLst/>
          </a:prstGeom>
          <a:solidFill>
            <a:srgbClr val="E8EEF4"/>
          </a:solidFill>
          <a:ln/>
        </p:spPr>
      </p:sp>
      <p:sp>
        <p:nvSpPr>
          <p:cNvPr id="4" name="Shape 2"/>
          <p:cNvSpPr/>
          <p:nvPr/>
        </p:nvSpPr>
        <p:spPr>
          <a:xfrm>
            <a:off x="15860985" y="1319213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EA36B"/>
          </a:solidFill>
          <a:ln/>
        </p:spPr>
      </p:sp>
      <p:sp>
        <p:nvSpPr>
          <p:cNvPr id="5" name="Text 3"/>
          <p:cNvSpPr/>
          <p:nvPr/>
        </p:nvSpPr>
        <p:spPr>
          <a:xfrm>
            <a:off x="16089585" y="1238250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860985" y="1747838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C99A3A"/>
          </a:solidFill>
          <a:ln/>
        </p:spPr>
      </p:sp>
      <p:sp>
        <p:nvSpPr>
          <p:cNvPr id="7" name="Text 5"/>
          <p:cNvSpPr/>
          <p:nvPr/>
        </p:nvSpPr>
        <p:spPr>
          <a:xfrm>
            <a:off x="16089585" y="1666875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860985" y="2176463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D0555F"/>
          </a:solidFill>
          <a:ln/>
        </p:spPr>
      </p:sp>
      <p:sp>
        <p:nvSpPr>
          <p:cNvPr id="9" name="Text 7"/>
          <p:cNvSpPr/>
          <p:nvPr/>
        </p:nvSpPr>
        <p:spPr>
          <a:xfrm>
            <a:off x="16089585" y="2095500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met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8250" y="1143000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SUPPORT · PRECISION ONCOLOGY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8250" y="3737000"/>
            <a:ext cx="17392650" cy="1232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333"/>
              </a:lnSpc>
              <a:buNone/>
            </a:pPr>
            <a:r>
              <a:rPr lang="en-US" sz="9600" b="1" spc="-225" kern="0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ClinicalTrial</a:t>
            </a:r>
            <a:pPr algn="l" indent="0" marL="0">
              <a:lnSpc>
                <a:spcPct val="85333"/>
              </a:lnSpc>
              <a:buNone/>
            </a:pPr>
            <a:r>
              <a:rPr lang="en-US" sz="9600" b="1" spc="-225" kern="0" dirty="0">
                <a:solidFill>
                  <a:srgbClr val="2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Finder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1238250" y="5236592"/>
            <a:ext cx="11576685" cy="1051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299"/>
              </a:lnSpc>
              <a:buNone/>
            </a:pPr>
            <a:r>
              <a:rPr lang="en-US" sz="285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NSCLC patients to the trials they could join — on diagnosis, gene profile, age and sex — and citing the evidence for every call.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238250" y="8548688"/>
            <a:ext cx="158115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8824913"/>
            <a:ext cx="893992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candidate-trial finder for physician review — </a:t>
            </a:r>
            <a:pPr algn="l" indent="0" marL="0">
              <a:buNone/>
            </a:pPr>
            <a:r>
              <a:rPr lang="en-US" sz="1950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an eligibility verdict.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306550" y="8848725"/>
            <a:ext cx="3017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ClaudeScience ·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047750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552575"/>
            <a:ext cx="15716250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96"/>
              </a:lnSpc>
              <a:buNone/>
            </a:pPr>
            <a:r>
              <a:rPr lang="en-US" sz="6000" b="1" spc="-150" kern="0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miss trials they could have joined.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38250" y="2615505"/>
            <a:ext cx="1373505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trial exists — but finding it means a clinician reading dense eligibility text for dozens of studies, under time pressure, at the point of care. So it rarely happens.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238250" y="5477917"/>
            <a:ext cx="5041850" cy="3123158"/>
          </a:xfrm>
          <a:prstGeom prst="roundRect">
            <a:avLst>
              <a:gd name="adj" fmla="val 5490"/>
            </a:avLst>
          </a:prstGeom>
          <a:solidFill>
            <a:srgbClr val="F5F8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8775" y="5906542"/>
            <a:ext cx="4686880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spc="-225" kern="0" dirty="0">
                <a:solidFill>
                  <a:srgbClr val="2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628775" y="7092404"/>
            <a:ext cx="438862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adult cancer patients ever enroll in a clinical trial.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623000" y="5477917"/>
            <a:ext cx="5041925" cy="3123158"/>
          </a:xfrm>
          <a:prstGeom prst="roundRect">
            <a:avLst>
              <a:gd name="adj" fmla="val 5490"/>
            </a:avLst>
          </a:prstGeom>
          <a:solidFill>
            <a:srgbClr val="F5F8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13525" y="5906542"/>
            <a:ext cx="4686962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spc="-225" kern="0" dirty="0">
                <a:solidFill>
                  <a:srgbClr val="2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5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013525" y="7092404"/>
            <a:ext cx="4388701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 trials close without meeting their enrollment target.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007825" y="5477917"/>
            <a:ext cx="5041850" cy="3123158"/>
          </a:xfrm>
          <a:prstGeom prst="roundRect">
            <a:avLst>
              <a:gd name="adj" fmla="val 5490"/>
            </a:avLst>
          </a:prstGeom>
          <a:solidFill>
            <a:srgbClr val="F5F8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98350" y="5906542"/>
            <a:ext cx="4686880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200" b="1" spc="-225" kern="0" dirty="0">
                <a:solidFill>
                  <a:srgbClr val="2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12398350" y="7092404"/>
            <a:ext cx="4388624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genes in NSCLC alone that can gate eligibility — each phrased differently across trials.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38250" y="8943975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 context, precision-oncology enrollment · figures are directional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047750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4C9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HARD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552575"/>
            <a:ext cx="15192375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541"/>
              </a:lnSpc>
              <a:buNone/>
            </a:pPr>
            <a:r>
              <a:rPr lang="en-US" sz="5550" b="1" spc="-150" kern="0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 is buried in prose.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38250" y="4427711"/>
            <a:ext cx="7950919" cy="3240881"/>
          </a:xfrm>
          <a:prstGeom prst="roundRect">
            <a:avLst>
              <a:gd name="adj" fmla="val 4702"/>
            </a:avLst>
          </a:prstGeom>
          <a:solidFill>
            <a:srgbClr val="16212E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66875" y="4818236"/>
            <a:ext cx="780303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75" kern="0" dirty="0">
                <a:solidFill>
                  <a:srgbClr val="93A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ELIGIBILITYCRITERIA — ONE FREE-TEXT BLOB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666875" y="5242099"/>
            <a:ext cx="7306479" cy="1188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4808"/>
              </a:lnSpc>
              <a:buNone/>
            </a:pPr>
            <a:r>
              <a:rPr lang="en-US" sz="1725" dirty="0">
                <a:solidFill>
                  <a:srgbClr val="C3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 must not harbor any </a:t>
            </a:r>
            <a:pPr algn="l" indent="0" marL="0">
              <a:lnSpc>
                <a:spcPct val="154808"/>
              </a:lnSpc>
              <a:buNone/>
            </a:pPr>
            <a:r>
              <a:rPr lang="en-US" sz="1725" dirty="0">
                <a:solidFill>
                  <a:srgbClr val="5FD0A0"/>
                </a:solidFill>
                <a:highlight>
                  <a:srgbClr val="123A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EGFR </a:t>
            </a:r>
            <a:pPr algn="l" indent="0" marL="0">
              <a:lnSpc>
                <a:spcPct val="154808"/>
              </a:lnSpc>
              <a:buNone/>
            </a:pPr>
            <a:r>
              <a:rPr lang="en-US" sz="1725" dirty="0">
                <a:solidFill>
                  <a:srgbClr val="C3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sensitizing mutations, </a:t>
            </a:r>
            <a:pPr algn="l" indent="0" marL="0">
              <a:lnSpc>
                <a:spcPct val="154808"/>
              </a:lnSpc>
              <a:buNone/>
            </a:pPr>
            <a:r>
              <a:rPr lang="en-US" sz="1725" dirty="0">
                <a:solidFill>
                  <a:srgbClr val="5FD0A0"/>
                </a:solidFill>
                <a:highlight>
                  <a:srgbClr val="123A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ALK </a:t>
            </a:r>
            <a:pPr algn="l" indent="0" marL="0">
              <a:lnSpc>
                <a:spcPct val="154808"/>
              </a:lnSpc>
              <a:buNone/>
            </a:pPr>
            <a:r>
              <a:rPr lang="en-US" sz="1725" dirty="0">
                <a:solidFill>
                  <a:srgbClr val="C3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fusion, </a:t>
            </a:r>
            <a:pPr algn="l" indent="0" marL="0">
              <a:lnSpc>
                <a:spcPct val="154808"/>
              </a:lnSpc>
              <a:buNone/>
            </a:pPr>
            <a:r>
              <a:rPr lang="en-US" sz="1725" dirty="0">
                <a:solidFill>
                  <a:srgbClr val="5FD0A0"/>
                </a:solidFill>
                <a:highlight>
                  <a:srgbClr val="123A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ROS1 </a:t>
            </a:r>
            <a:pPr algn="l" indent="0" marL="0">
              <a:lnSpc>
                <a:spcPct val="154808"/>
              </a:lnSpc>
              <a:buNone/>
            </a:pPr>
            <a:r>
              <a:rPr lang="en-US" sz="1725" dirty="0">
                <a:solidFill>
                  <a:srgbClr val="C3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rearrangements, </a:t>
            </a:r>
            <a:pPr algn="l" indent="0" marL="0">
              <a:lnSpc>
                <a:spcPct val="154808"/>
              </a:lnSpc>
              <a:buNone/>
            </a:pPr>
            <a:r>
              <a:rPr lang="en-US" sz="1725" dirty="0">
                <a:solidFill>
                  <a:srgbClr val="5FD0A0"/>
                </a:solidFill>
                <a:highlight>
                  <a:srgbClr val="123A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 </a:t>
            </a:r>
            <a:pPr algn="l" indent="0" marL="0">
              <a:lnSpc>
                <a:spcPct val="154808"/>
              </a:lnSpc>
              <a:buNone/>
            </a:pPr>
            <a:r>
              <a:rPr lang="en-US" sz="1725" dirty="0">
                <a:solidFill>
                  <a:srgbClr val="C3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fusions, or </a:t>
            </a:r>
            <a:pPr algn="l" indent="0" marL="0">
              <a:lnSpc>
                <a:spcPct val="154808"/>
              </a:lnSpc>
              <a:buNone/>
            </a:pPr>
            <a:r>
              <a:rPr lang="en-US" sz="1725" dirty="0">
                <a:solidFill>
                  <a:srgbClr val="5FD0A0"/>
                </a:solidFill>
                <a:highlight>
                  <a:srgbClr val="123A2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 </a:t>
            </a:r>
            <a:pPr algn="l" indent="0" marL="0">
              <a:lnSpc>
                <a:spcPct val="154808"/>
              </a:lnSpc>
              <a:buNone/>
            </a:pPr>
            <a:r>
              <a:rPr lang="en-US" sz="1725" dirty="0">
                <a:solidFill>
                  <a:srgbClr val="C3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exon 14 skipping mutations …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666875" y="6620842"/>
            <a:ext cx="730647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78"/>
              </a:lnSpc>
              <a:buNone/>
            </a:pPr>
            <a:r>
              <a:rPr lang="en-US" sz="172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Required? Wild-type? </a:t>
            </a:r>
            <a:pPr algn="l" indent="0" marL="0">
              <a:lnSpc>
                <a:spcPct val="127778"/>
              </a:lnSpc>
              <a:buNone/>
            </a:pPr>
            <a:r>
              <a:rPr lang="en-US" sz="1725" dirty="0">
                <a:solidFill>
                  <a:srgbClr val="D05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Excluded? </a:t>
            </a:r>
            <a:pPr algn="l" indent="0" marL="0">
              <a:lnSpc>
                <a:spcPct val="127778"/>
              </a:lnSpc>
              <a:buNone/>
            </a:pPr>
            <a:r>
              <a:rPr lang="en-US" sz="172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gene, opposite meaning — a sentence apart.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9855919" y="3943127"/>
            <a:ext cx="3277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C9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316989" y="3905027"/>
            <a:ext cx="641484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&amp; sex are the only structured fields.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316989" y="4290789"/>
            <a:ext cx="6414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criterion is language a human has to parse.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855919" y="4909914"/>
            <a:ext cx="3277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C9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316989" y="4871814"/>
            <a:ext cx="712944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Biomarkers point three ways.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316989" y="5257577"/>
            <a:ext cx="71294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Altered-required, wild-type-required, or alteration-excluded.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855919" y="5876702"/>
            <a:ext cx="3277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C9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316989" y="5838602"/>
            <a:ext cx="74059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lives in a hierarchy.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316989" y="6224364"/>
            <a:ext cx="693466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patient's "lung adenocarcinoma" must match a trial tagged "NSCLC" or "Lung".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855919" y="7176864"/>
            <a:ext cx="3277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D055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316989" y="7138764"/>
            <a:ext cx="74059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"Recruiting" can't be trusted.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316989" y="7524527"/>
            <a:ext cx="693466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Observational, stale, or already-completed studies still carry the flag.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326109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2830934"/>
            <a:ext cx="14716125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96"/>
              </a:lnSpc>
              <a:buNone/>
            </a:pPr>
            <a:r>
              <a:rPr lang="en-US" sz="6000" b="1" spc="-150" kern="0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where it can be. AI only where it must be.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238250" y="4671045"/>
            <a:ext cx="1373505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isolate the one uncertain step — reading language — and wrap it in code that is auditable end to end. Every biomarker judgment cites the trial's own sentence.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238250" y="6111106"/>
            <a:ext cx="5067300" cy="38100"/>
          </a:xfrm>
          <a:prstGeom prst="rect">
            <a:avLst/>
          </a:prstGeom>
          <a:solidFill>
            <a:srgbClr val="2EA36B"/>
          </a:solidFill>
          <a:ln/>
        </p:spPr>
      </p:sp>
      <p:sp>
        <p:nvSpPr>
          <p:cNvPr id="6" name="Text 4"/>
          <p:cNvSpPr/>
          <p:nvPr/>
        </p:nvSpPr>
        <p:spPr>
          <a:xfrm>
            <a:off x="1314450" y="6454006"/>
            <a:ext cx="54063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the uncertain step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14450" y="6920731"/>
            <a:ext cx="506234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only interprets which way a criterion points. The met / not-met logic is pure code — a verified truth table.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610350" y="6111106"/>
            <a:ext cx="5067300" cy="38100"/>
          </a:xfrm>
          <a:prstGeom prst="rect">
            <a:avLst/>
          </a:prstGeom>
          <a:solidFill>
            <a:srgbClr val="2F7FD1"/>
          </a:solidFill>
          <a:ln/>
        </p:spPr>
      </p:sp>
      <p:sp>
        <p:nvSpPr>
          <p:cNvPr id="9" name="Text 7"/>
          <p:cNvSpPr/>
          <p:nvPr/>
        </p:nvSpPr>
        <p:spPr>
          <a:xfrm>
            <a:off x="6686550" y="6454006"/>
            <a:ext cx="54063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the expensive work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86550" y="6920731"/>
            <a:ext cx="506234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trial's EGFR requirement is identical for every EGFR patient — so we classify each (trial, gene) once. Queries are instant.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982450" y="6111106"/>
            <a:ext cx="5067300" cy="38100"/>
          </a:xfrm>
          <a:prstGeom prst="rect">
            <a:avLst/>
          </a:prstGeom>
          <a:solidFill>
            <a:srgbClr val="C99A3A"/>
          </a:solidFill>
          <a:ln/>
        </p:spPr>
      </p:sp>
      <p:sp>
        <p:nvSpPr>
          <p:cNvPr id="12" name="Text 10"/>
          <p:cNvSpPr/>
          <p:nvPr/>
        </p:nvSpPr>
        <p:spPr>
          <a:xfrm>
            <a:off x="12058650" y="6454006"/>
            <a:ext cx="54063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uncertainty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058650" y="6920731"/>
            <a:ext cx="506234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Three-valued matching — met / not met / </a:t>
            </a:r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C99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</a:t>
            </a:r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never a silent pass or fail. And never an auto-exclusion.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7602200" cy="679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66"/>
              </a:lnSpc>
              <a:buNone/>
            </a:pPr>
            <a:r>
              <a:rPr lang="en-US" sz="4950" b="1" spc="-150" kern="0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in. A ranked, cited shortlist out.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2517577"/>
            <a:ext cx="2381250" cy="621684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8275" y="4683026"/>
            <a:ext cx="196977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75" kern="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38275" y="5049738"/>
            <a:ext cx="196977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38275" y="5540276"/>
            <a:ext cx="18669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180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OncoTree dx + gene profile + age / sex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71900" y="2517577"/>
            <a:ext cx="457200" cy="625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7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400550" y="2517577"/>
            <a:ext cx="3663925" cy="6216848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400550" y="8724900"/>
            <a:ext cx="366392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4400550" y="2517577"/>
            <a:ext cx="3663925" cy="38100"/>
          </a:xfrm>
          <a:prstGeom prst="rect">
            <a:avLst/>
          </a:prstGeom>
          <a:solidFill>
            <a:srgbClr val="2EA36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0550" y="2517577"/>
            <a:ext cx="9525" cy="62168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054950" y="2517577"/>
            <a:ext cx="9525" cy="62168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733925" y="2879527"/>
            <a:ext cx="329689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75" kern="0" dirty="0">
                <a:solidFill>
                  <a:srgbClr val="2E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DETERMINISTIC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4733925" y="3265289"/>
            <a:ext cx="30870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+ structured filter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4733925" y="4103489"/>
            <a:ext cx="3087090" cy="1735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37"/>
              </a:lnSpc>
              <a:buNone/>
            </a:pPr>
            <a:r>
              <a:rPr lang="en-US" sz="1725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OncoTree ancestor walk-up — a leaf diagnosis matches trials tagged at any broader level — plus age range, sex, recruiting status. Fully auditable.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8312125" y="2517577"/>
            <a:ext cx="457200" cy="625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7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940775" y="2517577"/>
            <a:ext cx="3664000" cy="6216848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940775" y="8724900"/>
            <a:ext cx="36640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940775" y="2517577"/>
            <a:ext cx="3664000" cy="38100"/>
          </a:xfrm>
          <a:prstGeom prst="rect">
            <a:avLst/>
          </a:prstGeom>
          <a:solidFill>
            <a:srgbClr val="2F7FD1"/>
          </a:solidFill>
          <a:ln/>
        </p:spPr>
      </p:sp>
      <p:sp>
        <p:nvSpPr>
          <p:cNvPr id="21" name="Shape 19"/>
          <p:cNvSpPr/>
          <p:nvPr/>
        </p:nvSpPr>
        <p:spPr>
          <a:xfrm>
            <a:off x="8940775" y="2517577"/>
            <a:ext cx="9525" cy="62168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2595250" y="2517577"/>
            <a:ext cx="9525" cy="62168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9274150" y="2879527"/>
            <a:ext cx="329697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75" kern="0" dirty="0">
                <a:solidFill>
                  <a:srgbClr val="2F7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CACHED GENE CHECK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274150" y="3265289"/>
            <a:ext cx="32969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Interpret, then decide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274150" y="3760589"/>
            <a:ext cx="3087167" cy="1735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37"/>
              </a:lnSpc>
              <a:buNone/>
            </a:pPr>
            <a:r>
              <a:rPr lang="en-US" sz="1725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reads the eligibility text for direction; a deterministic map turns </a:t>
            </a:r>
            <a:pPr algn="l" indent="0" marL="0">
              <a:lnSpc>
                <a:spcPct val="132037"/>
              </a:lnSpc>
              <a:buNone/>
            </a:pPr>
            <a:r>
              <a:rPr lang="en-US" sz="1500" dirty="0">
                <a:solidFill>
                  <a:srgbClr val="5A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 × status </a:t>
            </a:r>
            <a:pPr algn="l" indent="0" marL="0">
              <a:lnSpc>
                <a:spcPct val="132037"/>
              </a:lnSpc>
              <a:buNone/>
            </a:pPr>
            <a:r>
              <a:rPr lang="en-US" sz="1725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met / not met / unknown.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12852425" y="2517577"/>
            <a:ext cx="457200" cy="6254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7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13481075" y="2517577"/>
            <a:ext cx="3663925" cy="6216848"/>
          </a:xfrm>
          <a:prstGeom prst="roundRect">
            <a:avLst>
              <a:gd name="adj" fmla="val 4159"/>
            </a:avLst>
          </a:prstGeom>
          <a:solidFill>
            <a:srgbClr val="0F172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81075" y="8724900"/>
            <a:ext cx="3663925" cy="9525"/>
          </a:xfrm>
          <a:prstGeom prst="rect">
            <a:avLst/>
          </a:prstGeom>
          <a:solidFill>
            <a:srgbClr val="0F172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481075" y="2517577"/>
            <a:ext cx="3663925" cy="38100"/>
          </a:xfrm>
          <a:prstGeom prst="rect">
            <a:avLst/>
          </a:prstGeom>
          <a:solidFill>
            <a:srgbClr val="C99A3A"/>
          </a:solidFill>
          <a:ln/>
        </p:spPr>
      </p:sp>
      <p:sp>
        <p:nvSpPr>
          <p:cNvPr id="30" name="Shape 28"/>
          <p:cNvSpPr/>
          <p:nvPr/>
        </p:nvSpPr>
        <p:spPr>
          <a:xfrm>
            <a:off x="13481075" y="2517577"/>
            <a:ext cx="9525" cy="6216848"/>
          </a:xfrm>
          <a:prstGeom prst="rect">
            <a:avLst/>
          </a:prstGeom>
          <a:solidFill>
            <a:srgbClr val="0F1720"/>
          </a:solidFill>
          <a:ln/>
        </p:spPr>
      </p:sp>
      <p:sp>
        <p:nvSpPr>
          <p:cNvPr id="31" name="Shape 29"/>
          <p:cNvSpPr/>
          <p:nvPr/>
        </p:nvSpPr>
        <p:spPr>
          <a:xfrm>
            <a:off x="17135475" y="2517577"/>
            <a:ext cx="9525" cy="6216848"/>
          </a:xfrm>
          <a:prstGeom prst="rect">
            <a:avLst/>
          </a:prstGeom>
          <a:solidFill>
            <a:srgbClr val="0F1720"/>
          </a:solidFill>
          <a:ln/>
        </p:spPr>
      </p:sp>
      <p:sp>
        <p:nvSpPr>
          <p:cNvPr id="32" name="Text 30"/>
          <p:cNvSpPr/>
          <p:nvPr/>
        </p:nvSpPr>
        <p:spPr>
          <a:xfrm>
            <a:off x="13814450" y="2879527"/>
            <a:ext cx="329689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75" kern="0" dirty="0">
                <a:solidFill>
                  <a:srgbClr val="C9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RANK + SHOW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3814450" y="3265289"/>
            <a:ext cx="32968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shortlist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3814450" y="3760589"/>
            <a:ext cx="3087090" cy="1396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37"/>
              </a:lnSpc>
              <a:buNone/>
            </a:pPr>
            <a:r>
              <a:rPr lang="en-US" sz="172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Per-dimension basis, the cited source sentence, full criteria, and a CT.gov link. </a:t>
            </a:r>
            <a:pPr algn="l" indent="0" marL="0">
              <a:lnSpc>
                <a:spcPct val="132037"/>
              </a:lnSpc>
              <a:buNone/>
            </a:pPr>
            <a:r>
              <a:rPr lang="en-US" sz="1725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an eligible / ineligible verdict.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1143000" y="9039225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ALTERED_REQUIRED · WILD_TYPE_REQUIRED · ALTERATION_EXCLUDED · NOT_A_REQUIREMENT → met / not met / unknown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047750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 BY DESIGN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552575"/>
            <a:ext cx="15192375" cy="7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00"/>
              </a:lnSpc>
              <a:buNone/>
            </a:pPr>
            <a:r>
              <a:rPr lang="en-US" sz="5550" b="1" spc="-150" kern="0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cites the trial's own words.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38250" y="4214217"/>
            <a:ext cx="8329613" cy="3615630"/>
          </a:xfrm>
          <a:prstGeom prst="roundRect">
            <a:avLst>
              <a:gd name="adj" fmla="val 4742"/>
            </a:avLst>
          </a:prstGeom>
          <a:solidFill>
            <a:srgbClr val="F5F8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85925" y="4654748"/>
            <a:ext cx="86997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EGFR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457158" y="4642842"/>
            <a:ext cx="663029" cy="352425"/>
          </a:xfrm>
          <a:prstGeom prst="roundRect">
            <a:avLst>
              <a:gd name="adj" fmla="val 16216"/>
            </a:avLst>
          </a:prstGeom>
          <a:solidFill>
            <a:srgbClr val="EAF6F0"/>
          </a:solidFill>
          <a:ln w="9525">
            <a:solidFill>
              <a:srgbClr val="2EA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00033" y="4699992"/>
            <a:ext cx="45347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85925" y="5204817"/>
            <a:ext cx="8177689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75" kern="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CITED FROM INCLUSION CRITERIA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685925" y="5542955"/>
            <a:ext cx="28575" cy="742950"/>
          </a:xfrm>
          <a:prstGeom prst="rect">
            <a:avLst/>
          </a:prstGeom>
          <a:solidFill>
            <a:srgbClr val="CDD8E3"/>
          </a:solidFill>
          <a:ln/>
        </p:spPr>
      </p:sp>
      <p:sp>
        <p:nvSpPr>
          <p:cNvPr id="10" name="Text 8"/>
          <p:cNvSpPr/>
          <p:nvPr/>
        </p:nvSpPr>
        <p:spPr>
          <a:xfrm>
            <a:off x="1905000" y="5542955"/>
            <a:ext cx="743821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i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"Documented EGFR sensitive mutations (exon 19 deletion or exon 21 L858R mutation)."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685925" y="6533555"/>
            <a:ext cx="7434263" cy="9525"/>
          </a:xfrm>
          <a:prstGeom prst="rect">
            <a:avLst/>
          </a:prstGeom>
          <a:solidFill>
            <a:srgbClr val="D5DEE7"/>
          </a:solidFill>
          <a:ln/>
        </p:spPr>
      </p:sp>
      <p:sp>
        <p:nvSpPr>
          <p:cNvPr id="12" name="Text 10"/>
          <p:cNvSpPr/>
          <p:nvPr/>
        </p:nvSpPr>
        <p:spPr>
          <a:xfrm>
            <a:off x="1685925" y="6733580"/>
            <a:ext cx="7657290" cy="705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b="1" dirty="0">
                <a:solidFill>
                  <a:srgbClr val="C99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Gene-level, not variant-level. </a:t>
            </a:r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T790M patient still matches — the cited sentence is how the clinician catches it.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34613" y="3920951"/>
            <a:ext cx="74966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Three-valued, always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234613" y="4387676"/>
            <a:ext cx="7019592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· </a:t>
            </a:r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C99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</a:t>
            </a:r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not met — uncertainty is shown, not hidden behind a pass/fail.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234613" y="5429622"/>
            <a:ext cx="74966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Rank-and-surface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0234613" y="5896347"/>
            <a:ext cx="7019592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 met" trials are ranked low, never auto-excluded. The worst failure is wrongly ruling a patient out.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234613" y="6938293"/>
            <a:ext cx="74966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 in the loop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234613" y="7405018"/>
            <a:ext cx="7019592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clinician validates before any patient-facing use. Not a medical device; gives no medical advice.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62000"/>
            <a:ext cx="720884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2F7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857250" y="1166813"/>
            <a:ext cx="720884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22"/>
              </a:lnSpc>
              <a:buNone/>
            </a:pPr>
            <a:r>
              <a:rPr lang="en-US" sz="4200" b="1" spc="-112" kern="0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page. No server. Instant.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348085" y="1033462"/>
            <a:ext cx="608266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A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998 trials and 1,563 classifications embedded — it runs offline in any browser.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857250" y="1947863"/>
            <a:ext cx="16573500" cy="7577138"/>
          </a:xfrm>
          <a:prstGeom prst="roundRect">
            <a:avLst>
              <a:gd name="adj" fmla="val 2263"/>
            </a:avLst>
          </a:prstGeom>
          <a:solidFill>
            <a:srgbClr val="0F1720"/>
          </a:solidFill>
          <a:ln w="9525">
            <a:solidFill>
              <a:srgbClr val="24313F"/>
            </a:solidFill>
            <a:prstDash val="solid"/>
          </a:ln>
          <a:effectLst>
            <a:outerShdw sx="100000" sy="100000" kx="0" ky="0" algn="bl" rotWithShape="0" blurRad="762000" dist="285750" dir="5400000">
              <a:srgbClr val="0F172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6775" y="1957388"/>
            <a:ext cx="16554450" cy="519113"/>
          </a:xfrm>
          <a:prstGeom prst="rect">
            <a:avLst/>
          </a:prstGeom>
          <a:solidFill>
            <a:srgbClr val="16212E"/>
          </a:solidFill>
          <a:ln/>
        </p:spPr>
      </p:sp>
      <p:sp>
        <p:nvSpPr>
          <p:cNvPr id="7" name="Shape 5"/>
          <p:cNvSpPr/>
          <p:nvPr/>
        </p:nvSpPr>
        <p:spPr>
          <a:xfrm>
            <a:off x="866775" y="2466975"/>
            <a:ext cx="16554450" cy="9525"/>
          </a:xfrm>
          <a:prstGeom prst="rect">
            <a:avLst/>
          </a:prstGeom>
          <a:solidFill>
            <a:srgbClr val="2A3A4D"/>
          </a:solidFill>
          <a:ln/>
        </p:spPr>
      </p:sp>
      <p:sp>
        <p:nvSpPr>
          <p:cNvPr id="8" name="Shape 6"/>
          <p:cNvSpPr/>
          <p:nvPr/>
        </p:nvSpPr>
        <p:spPr>
          <a:xfrm>
            <a:off x="1076325" y="2150269"/>
            <a:ext cx="123825" cy="123825"/>
          </a:xfrm>
          <a:prstGeom prst="ellipse">
            <a:avLst/>
          </a:prstGeom>
          <a:solidFill>
            <a:srgbClr val="D0555F"/>
          </a:solidFill>
          <a:ln/>
        </p:spPr>
      </p:sp>
      <p:sp>
        <p:nvSpPr>
          <p:cNvPr id="9" name="Shape 7"/>
          <p:cNvSpPr/>
          <p:nvPr/>
        </p:nvSpPr>
        <p:spPr>
          <a:xfrm>
            <a:off x="1333500" y="2150269"/>
            <a:ext cx="123825" cy="123825"/>
          </a:xfrm>
          <a:prstGeom prst="ellipse">
            <a:avLst/>
          </a:prstGeom>
          <a:solidFill>
            <a:srgbClr val="C99A3A"/>
          </a:solidFill>
          <a:ln/>
        </p:spPr>
      </p:sp>
      <p:sp>
        <p:nvSpPr>
          <p:cNvPr id="10" name="Shape 8"/>
          <p:cNvSpPr/>
          <p:nvPr/>
        </p:nvSpPr>
        <p:spPr>
          <a:xfrm>
            <a:off x="1590675" y="2150269"/>
            <a:ext cx="123825" cy="123825"/>
          </a:xfrm>
          <a:prstGeom prst="ellipse">
            <a:avLst/>
          </a:prstGeom>
          <a:solidFill>
            <a:srgbClr val="2EA36B"/>
          </a:solidFill>
          <a:ln/>
        </p:spPr>
      </p:sp>
      <p:sp>
        <p:nvSpPr>
          <p:cNvPr id="11" name="Text 9"/>
          <p:cNvSpPr/>
          <p:nvPr/>
        </p:nvSpPr>
        <p:spPr>
          <a:xfrm>
            <a:off x="2000250" y="2109788"/>
            <a:ext cx="857845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ClinicalTrialFinder — NSCLC MVP </a:t>
            </a:r>
            <a:pPr algn="l" indent="0" marL="0">
              <a:buNone/>
            </a:pPr>
            <a:r>
              <a:rPr lang="en-US" sz="1125" dirty="0">
                <a:solidFill>
                  <a:srgbClr val="93A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candidate-trial finder · diagnosis + gene · not a verdict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6775" y="2476500"/>
            <a:ext cx="3429000" cy="7038975"/>
          </a:xfrm>
          <a:prstGeom prst="rect">
            <a:avLst/>
          </a:prstGeom>
          <a:solidFill>
            <a:srgbClr val="16212E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6250" y="2476500"/>
            <a:ext cx="9525" cy="7038975"/>
          </a:xfrm>
          <a:prstGeom prst="rect">
            <a:avLst/>
          </a:prstGeom>
          <a:solidFill>
            <a:srgbClr val="2A3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076325" y="2705100"/>
            <a:ext cx="330041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(OncoTree)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6325" y="2938463"/>
            <a:ext cx="3000375" cy="428625"/>
          </a:xfrm>
          <a:prstGeom prst="roundRect">
            <a:avLst>
              <a:gd name="adj" fmla="val 17778"/>
            </a:avLst>
          </a:prstGeom>
          <a:solidFill>
            <a:srgbClr val="1C2A3A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0150" y="3052763"/>
            <a:ext cx="284273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Lung Adenocarcinoma (LUAD)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6325" y="3519488"/>
            <a:ext cx="158734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76325" y="3752850"/>
            <a:ext cx="1443038" cy="428625"/>
          </a:xfrm>
          <a:prstGeom prst="roundRect">
            <a:avLst>
              <a:gd name="adj" fmla="val 17778"/>
            </a:avLst>
          </a:prstGeom>
          <a:solidFill>
            <a:srgbClr val="1C2A3A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0150" y="3867150"/>
            <a:ext cx="12715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33663" y="3519488"/>
            <a:ext cx="158734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33663" y="3752850"/>
            <a:ext cx="1443038" cy="428625"/>
          </a:xfrm>
          <a:prstGeom prst="roundRect">
            <a:avLst>
              <a:gd name="adj" fmla="val 17778"/>
            </a:avLst>
          </a:prstGeom>
          <a:solidFill>
            <a:srgbClr val="1C2A3A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57488" y="3867150"/>
            <a:ext cx="12715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6325" y="4352925"/>
            <a:ext cx="330041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profile — click to cycle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76325" y="4605338"/>
            <a:ext cx="949300" cy="500063"/>
          </a:xfrm>
          <a:prstGeom prst="roundRect">
            <a:avLst>
              <a:gd name="adj" fmla="val 15238"/>
            </a:avLst>
          </a:prstGeom>
          <a:solidFill>
            <a:srgbClr val="122A1F"/>
          </a:solidFill>
          <a:ln w="9525">
            <a:solidFill>
              <a:srgbClr val="2EA3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5850" y="4700588"/>
            <a:ext cx="9302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85850" y="4872038"/>
            <a:ext cx="930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E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altered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2101825" y="4605338"/>
            <a:ext cx="949300" cy="500063"/>
          </a:xfrm>
          <a:prstGeom prst="roundRect">
            <a:avLst>
              <a:gd name="adj" fmla="val 15238"/>
            </a:avLst>
          </a:prstGeom>
          <a:solidFill>
            <a:srgbClr val="1C2A3A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11350" y="4700588"/>
            <a:ext cx="9302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11350" y="4872038"/>
            <a:ext cx="930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3127325" y="4605338"/>
            <a:ext cx="949300" cy="500063"/>
          </a:xfrm>
          <a:prstGeom prst="roundRect">
            <a:avLst>
              <a:gd name="adj" fmla="val 15238"/>
            </a:avLst>
          </a:prstGeom>
          <a:solidFill>
            <a:srgbClr val="12233A"/>
          </a:solidFill>
          <a:ln w="9525">
            <a:solidFill>
              <a:srgbClr val="4C9B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36850" y="4700588"/>
            <a:ext cx="9302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136850" y="4872038"/>
            <a:ext cx="930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4C9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wild-type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1076325" y="5181600"/>
            <a:ext cx="949300" cy="500063"/>
          </a:xfrm>
          <a:prstGeom prst="roundRect">
            <a:avLst>
              <a:gd name="adj" fmla="val 15238"/>
            </a:avLst>
          </a:prstGeom>
          <a:solidFill>
            <a:srgbClr val="1C2A3A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5850" y="5276850"/>
            <a:ext cx="9302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85850" y="5448300"/>
            <a:ext cx="930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2101825" y="5181600"/>
            <a:ext cx="949300" cy="500063"/>
          </a:xfrm>
          <a:prstGeom prst="roundRect">
            <a:avLst>
              <a:gd name="adj" fmla="val 15238"/>
            </a:avLst>
          </a:prstGeom>
          <a:solidFill>
            <a:srgbClr val="1C2A3A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11350" y="5276850"/>
            <a:ext cx="9302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111350" y="5448300"/>
            <a:ext cx="930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3127325" y="5181600"/>
            <a:ext cx="949300" cy="500063"/>
          </a:xfrm>
          <a:prstGeom prst="roundRect">
            <a:avLst>
              <a:gd name="adj" fmla="val 15238"/>
            </a:avLst>
          </a:prstGeom>
          <a:solidFill>
            <a:srgbClr val="1C2A3A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36850" y="5276850"/>
            <a:ext cx="9302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BRAF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136850" y="5448300"/>
            <a:ext cx="930250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1076325" y="5872163"/>
            <a:ext cx="3000375" cy="404813"/>
          </a:xfrm>
          <a:prstGeom prst="roundRect">
            <a:avLst>
              <a:gd name="adj" fmla="val 18824"/>
            </a:avLst>
          </a:prstGeom>
          <a:solidFill>
            <a:srgbClr val="4C9BE8"/>
          </a:solidFill>
          <a:ln/>
        </p:spPr>
      </p:sp>
      <p:sp>
        <p:nvSpPr>
          <p:cNvPr id="43" name="Text 41"/>
          <p:cNvSpPr/>
          <p:nvPr/>
        </p:nvSpPr>
        <p:spPr>
          <a:xfrm>
            <a:off x="1145619" y="5986463"/>
            <a:ext cx="286178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candidate trials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76325" y="6372225"/>
            <a:ext cx="3000375" cy="404813"/>
          </a:xfrm>
          <a:prstGeom prst="roundRect">
            <a:avLst>
              <a:gd name="adj" fmla="val 18824"/>
            </a:avLst>
          </a:prstGeom>
          <a:ln w="9525">
            <a:solidFill>
              <a:srgbClr val="2A3A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5619" y="6486525"/>
            <a:ext cx="2861786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clinician review (JSON)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24375" y="2686050"/>
            <a:ext cx="1393507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candidate trials · ranked biomarker-met first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24375" y="2919413"/>
            <a:ext cx="12668250" cy="352425"/>
          </a:xfrm>
          <a:prstGeom prst="roundRect">
            <a:avLst>
              <a:gd name="adj" fmla="val 21622"/>
            </a:avLst>
          </a:prstGeom>
          <a:solidFill>
            <a:srgbClr val="2A2417"/>
          </a:solidFill>
          <a:ln w="9525">
            <a:solidFill>
              <a:srgbClr val="5A4A1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48200" y="3014663"/>
            <a:ext cx="128006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E5C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list for physician review — not an eligibility verdict. Biomarker matching is gene-level, not variant-level.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4524375" y="3405188"/>
            <a:ext cx="139350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8" kern="0" dirty="0">
                <a:solidFill>
                  <a:srgbClr val="93A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BIOMARKER MET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24375" y="3633788"/>
            <a:ext cx="12668250" cy="1246733"/>
          </a:xfrm>
          <a:prstGeom prst="roundRect">
            <a:avLst>
              <a:gd name="adj" fmla="val 9168"/>
            </a:avLst>
          </a:prstGeom>
          <a:solidFill>
            <a:srgbClr val="16212E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95825" y="3786188"/>
            <a:ext cx="7304045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12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Vebreltinib With Furmonertinib in NSCLC Patients With c-Met Amplification After EGFR-TKI Failure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6266765" y="3786188"/>
            <a:ext cx="83061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3A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NCT07087223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95825" y="4096643"/>
            <a:ext cx="1059656" cy="228600"/>
          </a:xfrm>
          <a:prstGeom prst="roundRect">
            <a:avLst>
              <a:gd name="adj" fmla="val 25000"/>
            </a:avLst>
          </a:prstGeom>
          <a:solidFill>
            <a:srgbClr val="1C2A3A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91075" y="4134743"/>
            <a:ext cx="9453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7EEF6"/>
                </a:solidFill>
                <a:highlight>
                  <a:srgbClr val="1C2A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Dx </a:t>
            </a:r>
            <a:pPr algn="l" indent="0" marL="0">
              <a:buNone/>
            </a:pPr>
            <a:r>
              <a:rPr lang="en-US" sz="9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</a:t>
            </a:r>
            <a:pPr algn="l" indent="0" marL="0">
              <a:buNone/>
            </a:pPr>
            <a:r>
              <a:rPr lang="en-US" sz="900" dirty="0">
                <a:solidFill>
                  <a:srgbClr val="E7EEF6"/>
                </a:solidFill>
                <a:highlight>
                  <a:srgbClr val="1C2A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· NSCLC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822156" y="4096643"/>
            <a:ext cx="859631" cy="228600"/>
          </a:xfrm>
          <a:prstGeom prst="roundRect">
            <a:avLst>
              <a:gd name="adj" fmla="val 25000"/>
            </a:avLst>
          </a:prstGeom>
          <a:solidFill>
            <a:srgbClr val="1C2A3A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17406" y="4134743"/>
            <a:ext cx="7453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7EEF6"/>
                </a:solidFill>
                <a:highlight>
                  <a:srgbClr val="1C2A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Age </a:t>
            </a:r>
            <a:pPr algn="l" indent="0" marL="0">
              <a:buNone/>
            </a:pPr>
            <a:r>
              <a:rPr lang="en-US" sz="9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∈ ≥18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748463" y="4096643"/>
            <a:ext cx="606623" cy="228600"/>
          </a:xfrm>
          <a:prstGeom prst="roundRect">
            <a:avLst>
              <a:gd name="adj" fmla="val 25000"/>
            </a:avLst>
          </a:prstGeom>
          <a:solidFill>
            <a:srgbClr val="1C2A3A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43713" y="4134743"/>
            <a:ext cx="4923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7EEF6"/>
                </a:solidFill>
                <a:highlight>
                  <a:srgbClr val="1C2A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Sex </a:t>
            </a:r>
            <a:pPr algn="l" indent="0" marL="0">
              <a:buNone/>
            </a:pPr>
            <a:r>
              <a:rPr lang="en-US" sz="9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421761" y="4096643"/>
            <a:ext cx="850850" cy="228600"/>
          </a:xfrm>
          <a:prstGeom prst="roundRect">
            <a:avLst>
              <a:gd name="adj" fmla="val 25000"/>
            </a:avLst>
          </a:prstGeom>
          <a:solidFill>
            <a:srgbClr val="122A1F"/>
          </a:solidFill>
          <a:ln w="9525">
            <a:solidFill>
              <a:srgbClr val="2EA3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17011" y="4134743"/>
            <a:ext cx="7365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EGFR · MET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95825" y="4430018"/>
            <a:ext cx="12325350" cy="9525"/>
          </a:xfrm>
          <a:prstGeom prst="rect">
            <a:avLst/>
          </a:prstGeom>
          <a:solidFill>
            <a:srgbClr val="2A3A4D"/>
          </a:solidFill>
          <a:ln/>
        </p:spPr>
      </p:sp>
      <p:sp>
        <p:nvSpPr>
          <p:cNvPr id="62" name="Text 60"/>
          <p:cNvSpPr/>
          <p:nvPr/>
        </p:nvSpPr>
        <p:spPr>
          <a:xfrm>
            <a:off x="4695825" y="4534793"/>
            <a:ext cx="30978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</a:t>
            </a:r>
            <a:endParaRPr lang="en-US" sz="825" dirty="0"/>
          </a:p>
        </p:txBody>
      </p:sp>
      <p:sp>
        <p:nvSpPr>
          <p:cNvPr id="63" name="Shape 61"/>
          <p:cNvSpPr/>
          <p:nvPr/>
        </p:nvSpPr>
        <p:spPr>
          <a:xfrm>
            <a:off x="5024661" y="4534793"/>
            <a:ext cx="19050" cy="193328"/>
          </a:xfrm>
          <a:prstGeom prst="rect">
            <a:avLst/>
          </a:prstGeom>
          <a:solidFill>
            <a:srgbClr val="2A3A4D"/>
          </a:solidFill>
          <a:ln/>
        </p:spPr>
      </p:sp>
      <p:sp>
        <p:nvSpPr>
          <p:cNvPr id="64" name="Text 62"/>
          <p:cNvSpPr/>
          <p:nvPr/>
        </p:nvSpPr>
        <p:spPr>
          <a:xfrm>
            <a:off x="5138961" y="4534793"/>
            <a:ext cx="574974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1050" i="1" dirty="0">
                <a:solidFill>
                  <a:srgbClr val="9F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"Documented EGFR sensitive mutations (exon 19 deletion or exon 21 L858R mutation)."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524375" y="4994821"/>
            <a:ext cx="12668250" cy="843855"/>
          </a:xfrm>
          <a:prstGeom prst="roundRect">
            <a:avLst>
              <a:gd name="adj" fmla="val 13545"/>
            </a:avLst>
          </a:prstGeom>
          <a:solidFill>
            <a:srgbClr val="16212E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95825" y="5147221"/>
            <a:ext cx="7244864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12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SHR-8068 + Adebrelimab + Chemotherapy vs Tislelizumab + Chemotherapy in Advanced NSCLC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6266765" y="5147221"/>
            <a:ext cx="83061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3A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NCT07170995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95825" y="5457676"/>
            <a:ext cx="1059656" cy="228600"/>
          </a:xfrm>
          <a:prstGeom prst="roundRect">
            <a:avLst>
              <a:gd name="adj" fmla="val 25000"/>
            </a:avLst>
          </a:prstGeom>
          <a:solidFill>
            <a:srgbClr val="1C2A3A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91075" y="5495776"/>
            <a:ext cx="9453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7EEF6"/>
                </a:solidFill>
                <a:highlight>
                  <a:srgbClr val="1C2A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Dx </a:t>
            </a:r>
            <a:pPr algn="l" indent="0" marL="0">
              <a:buNone/>
            </a:pPr>
            <a:r>
              <a:rPr lang="en-US" sz="9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</a:t>
            </a:r>
            <a:pPr algn="l" indent="0" marL="0">
              <a:buNone/>
            </a:pPr>
            <a:r>
              <a:rPr lang="en-US" sz="900" dirty="0">
                <a:solidFill>
                  <a:srgbClr val="E7EEF6"/>
                </a:solidFill>
                <a:highlight>
                  <a:srgbClr val="1C2A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· NSCLC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822156" y="5457676"/>
            <a:ext cx="987623" cy="228600"/>
          </a:xfrm>
          <a:prstGeom prst="roundRect">
            <a:avLst>
              <a:gd name="adj" fmla="val 25000"/>
            </a:avLst>
          </a:prstGeom>
          <a:solidFill>
            <a:srgbClr val="1C2A3A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17406" y="5495776"/>
            <a:ext cx="8733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7EEF6"/>
                </a:solidFill>
                <a:highlight>
                  <a:srgbClr val="1C2A3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Age </a:t>
            </a:r>
            <a:pPr algn="l" indent="0" marL="0">
              <a:buNone/>
            </a:pPr>
            <a:r>
              <a:rPr lang="en-US" sz="9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∈ 18–75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876455" y="5457676"/>
            <a:ext cx="1212800" cy="228600"/>
          </a:xfrm>
          <a:prstGeom prst="roundRect">
            <a:avLst>
              <a:gd name="adj" fmla="val 25000"/>
            </a:avLst>
          </a:prstGeom>
          <a:solidFill>
            <a:srgbClr val="2A2417"/>
          </a:solidFill>
          <a:ln w="9525">
            <a:solidFill>
              <a:srgbClr val="C99A3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71705" y="5495776"/>
            <a:ext cx="10985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9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EGFR · UNKNOWN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524375" y="5972026"/>
            <a:ext cx="139350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8" kern="0" dirty="0">
                <a:solidFill>
                  <a:srgbClr val="93A4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MET — SURFACED, NOT HIDDEN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524375" y="6200626"/>
            <a:ext cx="12668250" cy="843855"/>
          </a:xfrm>
          <a:prstGeom prst="roundRect">
            <a:avLst>
              <a:gd name="adj" fmla="val 13545"/>
            </a:avLst>
          </a:prstGeom>
          <a:solidFill>
            <a:srgbClr val="16212E">
              <a:alpha val="75000"/>
            </a:srgbClr>
          </a:solidFill>
          <a:ln w="9525">
            <a:solidFill>
              <a:srgbClr val="2A3A4D">
                <a:alpha val="7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95825" y="6353026"/>
            <a:ext cx="5899405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1200" b="1" dirty="0">
                <a:solidFill>
                  <a:srgbClr val="E7EEF6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LCT + Durvalumab for Progressive Stage III NSCLC — driver-negative required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6266765" y="6353026"/>
            <a:ext cx="83061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3A4B7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NCT04892953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695825" y="6663482"/>
            <a:ext cx="1121866" cy="228600"/>
          </a:xfrm>
          <a:prstGeom prst="roundRect">
            <a:avLst>
              <a:gd name="adj" fmla="val 25000"/>
            </a:avLst>
          </a:prstGeom>
          <a:solidFill>
            <a:srgbClr val="2A1518">
              <a:alpha val="75000"/>
            </a:srgbClr>
          </a:solidFill>
          <a:ln w="9525">
            <a:solidFill>
              <a:srgbClr val="D0555F">
                <a:alpha val="7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91075" y="6701582"/>
            <a:ext cx="10075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555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EGFR · NOT MET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884366" y="6663482"/>
            <a:ext cx="1321668" cy="228600"/>
          </a:xfrm>
          <a:prstGeom prst="roundRect">
            <a:avLst>
              <a:gd name="adj" fmla="val 25000"/>
            </a:avLst>
          </a:prstGeom>
          <a:solidFill>
            <a:srgbClr val="1C2A3A">
              <a:alpha val="75000"/>
            </a:srgbClr>
          </a:solidFill>
          <a:ln w="9525">
            <a:solidFill>
              <a:srgbClr val="2A3A4D">
                <a:alpha val="75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79616" y="6701582"/>
            <a:ext cx="12073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7EEF6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EGFR wild-type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047750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FINDING THAT BECAME A FEATURE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552575"/>
            <a:ext cx="15192375" cy="7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00"/>
              </a:lnSpc>
              <a:buNone/>
            </a:pPr>
            <a:r>
              <a:rPr lang="en-US" sz="5550" b="1" spc="-150" kern="0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"Recruiting" doesn't mean recruitable.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1238250" y="2538189"/>
            <a:ext cx="1353883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across 1,287 "recruiting" NSCLC trials — so instead of trusting the flag, we filter and show the physician the dates.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38250" y="3924970"/>
            <a:ext cx="5067300" cy="2480221"/>
          </a:xfrm>
          <a:prstGeom prst="roundRect">
            <a:avLst>
              <a:gd name="adj" fmla="val 6145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9725" y="4315495"/>
            <a:ext cx="4756785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-150" kern="0" dirty="0">
                <a:solidFill>
                  <a:srgbClr val="D05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1609725" y="5310857"/>
            <a:ext cx="4756785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</a:t>
            </a:r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observational</a:t>
            </a:r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interventional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610350" y="3924970"/>
            <a:ext cx="5067300" cy="2480221"/>
          </a:xfrm>
          <a:prstGeom prst="roundRect">
            <a:avLst>
              <a:gd name="adj" fmla="val 6145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1825" y="4315495"/>
            <a:ext cx="4756785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-150" kern="0" dirty="0">
                <a:solidFill>
                  <a:srgbClr val="D05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6981825" y="5310857"/>
            <a:ext cx="4454081" cy="7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completion date </a:t>
            </a:r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passed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1982450" y="3924970"/>
            <a:ext cx="5067300" cy="2480221"/>
          </a:xfrm>
          <a:prstGeom prst="roundRect">
            <a:avLst>
              <a:gd name="adj" fmla="val 6145"/>
            </a:avLst>
          </a:prstGeom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53925" y="4315495"/>
            <a:ext cx="4756785" cy="957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-150" kern="0" dirty="0">
                <a:solidFill>
                  <a:srgbClr val="D05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6300" dirty="0"/>
          </a:p>
        </p:txBody>
      </p:sp>
      <p:sp>
        <p:nvSpPr>
          <p:cNvPr id="13" name="Text 11"/>
          <p:cNvSpPr/>
          <p:nvPr/>
        </p:nvSpPr>
        <p:spPr>
          <a:xfrm>
            <a:off x="12353925" y="5310857"/>
            <a:ext cx="4756785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updated in </a:t>
            </a:r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12 months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238250" y="7847707"/>
            <a:ext cx="15811500" cy="1391543"/>
          </a:xfrm>
          <a:prstGeom prst="roundRect">
            <a:avLst>
              <a:gd name="adj" fmla="val 9583"/>
            </a:avLst>
          </a:prstGeom>
          <a:solidFill>
            <a:srgbClr val="F5F8F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38250" y="9229725"/>
            <a:ext cx="158115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238250" y="7847707"/>
            <a:ext cx="158115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238250" y="7847707"/>
            <a:ext cx="47625" cy="1391543"/>
          </a:xfrm>
          <a:prstGeom prst="rect">
            <a:avLst/>
          </a:prstGeom>
          <a:solidFill>
            <a:srgbClr val="2EA36B"/>
          </a:solidFill>
          <a:ln/>
        </p:spPr>
      </p:sp>
      <p:sp>
        <p:nvSpPr>
          <p:cNvPr id="18" name="Shape 16"/>
          <p:cNvSpPr/>
          <p:nvPr/>
        </p:nvSpPr>
        <p:spPr>
          <a:xfrm>
            <a:off x="17040225" y="7847707"/>
            <a:ext cx="9525" cy="139154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1666875" y="8379172"/>
            <a:ext cx="188676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ship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3801219" y="8181082"/>
            <a:ext cx="13243746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998 interventional trials</a:t>
            </a:r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completion-date-valid. </a:t>
            </a:r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265 </a:t>
            </a:r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likely-stale and hidden by default — revealable with a ⚠ badge that explains exactly why.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047750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4C9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STANDS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552575"/>
            <a:ext cx="17392650" cy="7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00"/>
              </a:lnSpc>
              <a:buNone/>
            </a:pPr>
            <a:r>
              <a:rPr lang="en-US" sz="5550" b="1" spc="-150" kern="0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working, clinician-testable MVP.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1238250" y="2938239"/>
            <a:ext cx="4112419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spc="-150" kern="0" dirty="0">
                <a:solidFill>
                  <a:srgbClr val="4C9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998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38250" y="3909789"/>
            <a:ext cx="385071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interventional NSCLC trials, embedded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262563" y="2938239"/>
            <a:ext cx="4112419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spc="-150" kern="0" dirty="0">
                <a:solidFill>
                  <a:srgbClr val="4C9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1,563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262563" y="3909789"/>
            <a:ext cx="385071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(trial × gene) classifications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286875" y="2938239"/>
            <a:ext cx="4112419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spc="-150" kern="0" dirty="0">
                <a:solidFill>
                  <a:srgbClr val="4C9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286875" y="3909789"/>
            <a:ext cx="41124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de-identified test cases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3311188" y="2938239"/>
            <a:ext cx="4112419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spc="-150" kern="0" dirty="0">
                <a:solidFill>
                  <a:srgbClr val="4C9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3311188" y="3909789"/>
            <a:ext cx="385071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3A4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LLM calls at query time — instant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38250" y="7472363"/>
            <a:ext cx="7715250" cy="1766888"/>
          </a:xfrm>
          <a:prstGeom prst="roundRect">
            <a:avLst>
              <a:gd name="adj" fmla="val 7547"/>
            </a:avLst>
          </a:prstGeom>
          <a:solidFill>
            <a:srgbClr val="16212E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0675" y="7786688"/>
            <a:ext cx="77114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FD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590675" y="8210550"/>
            <a:ext cx="722071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pipeline; logic mirrors the reference matcher; runs offline with no PHI leaving the page.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334500" y="7472363"/>
            <a:ext cx="7715250" cy="1766888"/>
          </a:xfrm>
          <a:prstGeom prst="roundRect">
            <a:avLst>
              <a:gd name="adj" fmla="val 7547"/>
            </a:avLst>
          </a:prstGeom>
          <a:solidFill>
            <a:srgbClr val="16212E"/>
          </a:solidFill>
          <a:ln w="9525">
            <a:solidFill>
              <a:srgbClr val="2A3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86925" y="7786688"/>
            <a:ext cx="771144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5C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gap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686925" y="8210550"/>
            <a:ext cx="722071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independently accuracy-validated. Clinician review is the first real signal — target near the ~87% TrialGPT ceiling.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047750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OPPORTUNITY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552575"/>
            <a:ext cx="14225588" cy="1475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00"/>
              </a:lnSpc>
              <a:buNone/>
            </a:pPr>
            <a:r>
              <a:rPr lang="en-US" sz="5550" b="1" spc="-150" kern="0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NSCLC is the beachhead. The architecture is the market.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1238250" y="4052292"/>
            <a:ext cx="188595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50" kern="0" dirty="0">
                <a:solidFill>
                  <a:srgbClr val="2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4342805"/>
            <a:ext cx="577853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lung cancers are NSCLC — the leading cause of cancer death worldwide.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238250" y="5386685"/>
            <a:ext cx="188595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50" kern="0" dirty="0">
                <a:solidFill>
                  <a:srgbClr val="2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00400" y="5677198"/>
            <a:ext cx="5778532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biomarker-driven solid tumor — where gene-gated matching is hardest and most valuable.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238250" y="7081093"/>
            <a:ext cx="188595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50" kern="0" dirty="0">
                <a:solidFill>
                  <a:srgbClr val="2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0" y="7371606"/>
            <a:ext cx="577853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engine — a deterministic diagnosis layer plus a swappable gene classifier, per tumor type.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477375" y="4072235"/>
            <a:ext cx="7572375" cy="3999458"/>
          </a:xfrm>
          <a:prstGeom prst="roundRect">
            <a:avLst>
              <a:gd name="adj" fmla="val 4287"/>
            </a:avLst>
          </a:prstGeom>
          <a:solidFill>
            <a:srgbClr val="F5F8FB"/>
          </a:solidFill>
          <a:ln/>
        </p:spPr>
      </p:sp>
      <p:sp>
        <p:nvSpPr>
          <p:cNvPr id="11" name="Shape 9"/>
          <p:cNvSpPr/>
          <p:nvPr/>
        </p:nvSpPr>
        <p:spPr>
          <a:xfrm>
            <a:off x="9477375" y="8062168"/>
            <a:ext cx="75723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9477375" y="4072235"/>
            <a:ext cx="9525" cy="399945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7040225" y="4072235"/>
            <a:ext cx="9525" cy="399945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9944100" y="4529435"/>
            <a:ext cx="730281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engine generalizes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944100" y="5086648"/>
            <a:ext cx="158725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2E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179025" y="5086648"/>
            <a:ext cx="6596120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diagnosis matcher is already the </a:t>
            </a:r>
            <a:pPr algn="l" indent="0" marL="0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OncoTree hierarchy </a:t>
            </a:r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tumor type, not just lung.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44100" y="5999113"/>
            <a:ext cx="158725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2E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179025" y="5999113"/>
            <a:ext cx="6596120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 layer is a </a:t>
            </a:r>
            <a:pPr algn="l" indent="0" marL="0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+ section-aware classifier </a:t>
            </a:r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extend by adding genes, not rebuilding.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944100" y="6906816"/>
            <a:ext cx="158725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2E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179025" y="6906816"/>
            <a:ext cx="6596120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classification makes each new tumor type an </a:t>
            </a:r>
            <a:pPr algn="l" indent="0" marL="0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batch job</a:t>
            </a:r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per-query cost.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38250" y="8943975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Epidemiology figures are directional industry context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047750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552575"/>
            <a:ext cx="17392650" cy="7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00"/>
              </a:lnSpc>
              <a:buNone/>
            </a:pPr>
            <a:r>
              <a:rPr lang="en-US" sz="5550" b="1" spc="-150" kern="0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posture. Wider coverage.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38250" y="2881089"/>
            <a:ext cx="5067300" cy="6358161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9229725"/>
            <a:ext cx="50673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2881089"/>
            <a:ext cx="5067300" cy="47625"/>
          </a:xfrm>
          <a:prstGeom prst="rect">
            <a:avLst/>
          </a:prstGeom>
          <a:solidFill>
            <a:srgbClr val="2EA36B"/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2881089"/>
            <a:ext cx="9525" cy="635816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6296025" y="2881089"/>
            <a:ext cx="9525" cy="635816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1609725" y="3309714"/>
            <a:ext cx="4756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2E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 TERM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9725" y="3690714"/>
            <a:ext cx="475678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56"/>
              </a:lnSpc>
              <a:buNone/>
            </a:pPr>
            <a:r>
              <a:rPr lang="en-US" sz="255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 the match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609725" y="4272632"/>
            <a:ext cx="4454081" cy="1012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Variant-level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— OncoKB + HGVS to close the T790M-vs-L858R gap.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609725" y="5418013"/>
            <a:ext cx="4454081" cy="69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dimensions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prior therapy, ECOG, stage, brain mets.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609725" y="6241926"/>
            <a:ext cx="4454081" cy="69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ICD-10 / SNOMED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input beyond OncoTree.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610350" y="2881089"/>
            <a:ext cx="5067300" cy="6358161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0350" y="9229725"/>
            <a:ext cx="50673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610350" y="2881089"/>
            <a:ext cx="5067300" cy="47625"/>
          </a:xfrm>
          <a:prstGeom prst="rect">
            <a:avLst/>
          </a:prstGeom>
          <a:solidFill>
            <a:srgbClr val="2F7FD1"/>
          </a:solidFill>
          <a:ln/>
        </p:spPr>
      </p:sp>
      <p:sp>
        <p:nvSpPr>
          <p:cNvPr id="17" name="Shape 15"/>
          <p:cNvSpPr/>
          <p:nvPr/>
        </p:nvSpPr>
        <p:spPr>
          <a:xfrm>
            <a:off x="6610350" y="2881089"/>
            <a:ext cx="9525" cy="635816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68125" y="2881089"/>
            <a:ext cx="9525" cy="635816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6981825" y="3309714"/>
            <a:ext cx="4756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2F7F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 TERM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81825" y="3690714"/>
            <a:ext cx="475678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56"/>
              </a:lnSpc>
              <a:buNone/>
            </a:pPr>
            <a:r>
              <a:rPr lang="en-US" sz="255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 the reach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6981825" y="4272632"/>
            <a:ext cx="4454081" cy="69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tumor types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same engine — the OncoTree layer already spans them.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6981825" y="5096545"/>
            <a:ext cx="4454081" cy="1012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CT.gov refresh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verification date — retire the staleness heuristic.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6981825" y="6241926"/>
            <a:ext cx="4756785" cy="369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Pan-tumor baskets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into scope.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1982450" y="2881089"/>
            <a:ext cx="5067300" cy="6358161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982450" y="9229725"/>
            <a:ext cx="50673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982450" y="2881089"/>
            <a:ext cx="5067300" cy="47625"/>
          </a:xfrm>
          <a:prstGeom prst="rect">
            <a:avLst/>
          </a:prstGeom>
          <a:solidFill>
            <a:srgbClr val="C99A3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982450" y="2881089"/>
            <a:ext cx="9525" cy="635816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7040225" y="2881089"/>
            <a:ext cx="9525" cy="635816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12353925" y="3309714"/>
            <a:ext cx="4756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C9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353925" y="3690714"/>
            <a:ext cx="475678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256"/>
              </a:lnSpc>
              <a:buNone/>
            </a:pPr>
            <a:r>
              <a:rPr lang="en-US" sz="2550" b="1" dirty="0">
                <a:solidFill>
                  <a:srgbClr val="0F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the clinic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2353925" y="4272632"/>
            <a:ext cx="4454081" cy="69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validation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— the first real accuracy signal.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2353925" y="5096545"/>
            <a:ext cx="4756785" cy="369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wrapper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point-of-care use.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12353925" y="5598988"/>
            <a:ext cx="4454081" cy="690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EHR-assisted entry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always physician-confirmed, never automated exclusion.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-1524000"/>
            <a:ext cx="7239000" cy="7239000"/>
          </a:xfrm>
          <a:prstGeom prst="ellipse">
            <a:avLst/>
          </a:prstGeom>
          <a:gradFill rotWithShape="1">
            <a:gsLst>
              <a:gs pos="0">
                <a:srgbClr val="4C9BE8">
                  <a:alpha val="16000"/>
                </a:srgbClr>
              </a:gs>
              <a:gs pos="68000">
                <a:srgbClr val="4C9BE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1143000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4C9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PRINCIPLES THAT HOLD THROUGHOUT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704975"/>
            <a:ext cx="14716125" cy="190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15"/>
              </a:lnSpc>
              <a:buNone/>
            </a:pPr>
            <a:r>
              <a:rPr lang="en-US" sz="7200" b="1" spc="-225" kern="0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trial. Cite the reason. Leave the call to the clinician.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238250" y="5223197"/>
            <a:ext cx="5092675" cy="9525"/>
          </a:xfrm>
          <a:prstGeom prst="rect">
            <a:avLst/>
          </a:prstGeom>
          <a:solidFill>
            <a:srgbClr val="2A3A4D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442272"/>
            <a:ext cx="524545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5FD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first. </a:t>
            </a:r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only where language demands it.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597625" y="5223197"/>
            <a:ext cx="5092675" cy="9525"/>
          </a:xfrm>
          <a:prstGeom prst="rect">
            <a:avLst/>
          </a:prstGeom>
          <a:solidFill>
            <a:srgbClr val="2A3A4D"/>
          </a:solidFill>
          <a:ln/>
        </p:spPr>
      </p:sp>
      <p:sp>
        <p:nvSpPr>
          <p:cNvPr id="8" name="Text 6"/>
          <p:cNvSpPr/>
          <p:nvPr/>
        </p:nvSpPr>
        <p:spPr>
          <a:xfrm>
            <a:off x="6597625" y="5442272"/>
            <a:ext cx="524545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4C9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shown. </a:t>
            </a:r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/ unknown / not met — never a silent verdict.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1957000" y="5223197"/>
            <a:ext cx="5092750" cy="9525"/>
          </a:xfrm>
          <a:prstGeom prst="rect">
            <a:avLst/>
          </a:prstGeom>
          <a:solidFill>
            <a:srgbClr val="2A3A4D"/>
          </a:solidFill>
          <a:ln/>
        </p:spPr>
      </p:sp>
      <p:sp>
        <p:nvSpPr>
          <p:cNvPr id="10" name="Text 8"/>
          <p:cNvSpPr/>
          <p:nvPr/>
        </p:nvSpPr>
        <p:spPr>
          <a:xfrm>
            <a:off x="11957000" y="5442272"/>
            <a:ext cx="5245532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b="1" dirty="0">
                <a:solidFill>
                  <a:srgbClr val="E5C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 in the loop. </a:t>
            </a:r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and surface — never auto-exclude.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238250" y="7820025"/>
            <a:ext cx="15811500" cy="9525"/>
          </a:xfrm>
          <a:prstGeom prst="rect">
            <a:avLst/>
          </a:prstGeom>
          <a:solidFill>
            <a:srgbClr val="2A3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238250" y="8658225"/>
            <a:ext cx="367195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ClinicalTrial</a:t>
            </a:r>
            <a:pPr algn="l" indent="0" marL="0">
              <a:buNone/>
            </a:pPr>
            <a:r>
              <a:rPr lang="en-US" sz="3300" b="1" dirty="0">
                <a:solidFill>
                  <a:srgbClr val="4C9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Finder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0770870" y="8115300"/>
            <a:ext cx="627888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80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 medical device · gives no medical advice · a clinician validates before any patient-facing use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2026-07-11T15:05:31Z</dcterms:created>
  <dcterms:modified xsi:type="dcterms:W3CDTF">2026-07-11T15:05:31Z</dcterms:modified>
</cp:coreProperties>
</file>